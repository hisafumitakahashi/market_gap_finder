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22960"/>
            <a:ext cx="108813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078992"/>
            <a:ext cx="1828800" cy="164592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22833"/>
                </a:solidFill>
                <a:latin typeface="Meiryo"/>
              </a:rPr>
              <a:t>市場空白地帯発見システム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5BE3"/>
                </a:solidFill>
                <a:latin typeface="Meiryo"/>
              </a:rPr>
              <a:t>Market Gap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2833"/>
                </a:solidFill>
                <a:latin typeface="Meiryo"/>
              </a:rPr>
              <a:t>「どこに出店すればいいか？」をデータで答える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F7A"/>
                </a:solidFill>
                <a:latin typeface="Meiryo"/>
              </a:rPr>
              <a:t>Vibe Coding with Claude Code + Codex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0740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F7A"/>
                </a:solidFill>
                <a:latin typeface="Meiryo"/>
              </a:rPr>
              <a:t>2026-04-08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1: ビジネス課題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78992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833"/>
                </a:solidFill>
                <a:latin typeface="Meiryo"/>
              </a:rPr>
              <a:t>「なぜ駅前にはラーメン屋が多いのか？」「この街にカフェが少ないのはなぜ？」── こうした疑問をデータで説明できたら面白い。それがこのシステムの出発点。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7744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B4437"/>
                </a:solidFill>
                <a:latin typeface="Meiryo"/>
              </a:rPr>
              <a:t>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833"/>
                </a:solidFill>
                <a:latin typeface="Meiryo"/>
              </a:rPr>
              <a:t>飲食店テナントは頻繁に入れ替わる。出店判断の基準は各社・各担当で異なり、新しいエリアやジャンルへの横展開が難しい。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84048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0507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D58"/>
                </a:solidFill>
                <a:latin typeface="Meiryo"/>
              </a:rPr>
              <a:t>解決アプローチ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79392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833"/>
                </a:solidFill>
                <a:latin typeface="Meiryo"/>
              </a:rPr>
              <a:t>公開データから「どこに、どんなジャンルの店が足りないか？」を数値化し、エリアやジャンルを問わず使える出店基準をつくる。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94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833"/>
                </a:solidFill>
                <a:latin typeface="Meiryo"/>
              </a:rPr>
              <a:t>このテーマを選んだ理由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692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D5BE3"/>
                </a:solidFill>
                <a:latin typeface="Meiryo"/>
              </a:rPr>
              <a:t>• </a:t>
            </a:r>
            <a:r>
              <a:rPr sz="1400">
                <a:solidFill>
                  <a:srgbClr val="666F7A"/>
                </a:solidFill>
                <a:latin typeface="Meiryo"/>
              </a:rPr>
              <a:t>頻繁に入れ替わる飲食テナントに対して、データでニーズを可視化したかった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D5BE3"/>
                </a:solidFill>
                <a:latin typeface="Meiryo"/>
              </a:rPr>
              <a:t>• </a:t>
            </a:r>
            <a:r>
              <a:rPr sz="1400">
                <a:solidFill>
                  <a:srgbClr val="666F7A"/>
                </a:solidFill>
                <a:latin typeface="Meiryo"/>
              </a:rPr>
              <a:t>各社バラバラの出店基準を、データから導く普遍的な基準に置き換えたかった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D5BE3"/>
                </a:solidFill>
                <a:latin typeface="Meiryo"/>
              </a:rPr>
              <a:t>• </a:t>
            </a:r>
            <a:r>
              <a:rPr sz="1400">
                <a:solidFill>
                  <a:srgbClr val="666F7A"/>
                </a:solidFill>
                <a:latin typeface="Meiryo"/>
              </a:rPr>
              <a:t>講座で学んだML・データ分析・可視化を統合的に活かせるテーマ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2: データの紹介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868680"/>
          <a:ext cx="11155679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754880"/>
                <a:gridCol w="3749039"/>
              </a:tblGrid>
              <a:tr h="3703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カテゴリ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知りたいこと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データソース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需要（お客さんはいる？）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その街にどれだけ人がいるか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e-Stat（国勢調査）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供給（ライバルは？）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今どれだけ店があるか、評判は？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ホットペッパー / Google Places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立地条件（場所の特性は？）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駅に近い？地価は？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833"/>
                          </a:solidFill>
                          <a:latin typeface="Meiryo"/>
                        </a:rPr>
                        <a:t>HeartRails / 国土数値情報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560320"/>
          <a:ext cx="11155680" cy="2103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1645920"/>
                <a:gridCol w="3108960"/>
              </a:tblGrid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API / データ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役割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粒度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補足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ホットペッパー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店舗名・ジャンル・位置情報の取得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店舗単位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供給の主データ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Google Places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評価・レビュー数・補完的な店舗情報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店舗単位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評判の指標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e-Stat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人口・世帯・年齢構成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250mメッシュ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需要の指標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HeartRails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最寄駅と駅距離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地点単位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アクセス指標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駅乗降客数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駅の人流規模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駅単位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流動人口の近似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国土数値情報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地価データ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地点単位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立地の格を表現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983480"/>
            <a:ext cx="5394960" cy="109728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389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対象エリア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833"/>
                </a:solidFill>
                <a:latin typeface="Meiryo"/>
              </a:rPr>
              <a:t>東京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98348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51389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対象ジャンル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54406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833"/>
                </a:solidFill>
                <a:latin typeface="Meiryo"/>
              </a:rPr>
              <a:t>カフェ / ラーメン / 居酒屋 / 焼肉 / 和食 / 中華 / イタリアン / その他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2.5: 分析の単位 ── メッシュとは？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833"/>
                </a:solidFill>
                <a:latin typeface="Meiryo"/>
              </a:rPr>
              <a:t>地図の上に250m四方のマス目（格子）を敷いて、マスごとに「飲食店は何軒？」「人口は？」を集計する。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5166360" cy="338328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45262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1マス = 250m × 250m（だいたいコンビニ2〜3軒分の距離感）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東京で合計 1,233マス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マスごとに「需要・供給・立地」のデータを紐づけて比較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240280"/>
          <a:ext cx="4480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1120140"/>
                <a:gridCol w="1120140"/>
                <a:gridCol w="112014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eiryo"/>
                        </a:rPr>
                        <a:t>1メッシュ</a:t>
                      </a:r>
                    </a:p>
                  </a:txBody>
                  <a:tcPr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8EE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8EEFD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" y="55778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80644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2833"/>
                </a:solidFill>
                <a:latin typeface="Meiryo"/>
              </a:rPr>
              <a:t>「渋谷区」のような大きい単位だと駅前と住宅街の違いが見えない。250m単位なら「この通りの向こう側」レベルで出店チャンスを見つけられる。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3a: EDA ― 店舗集積マップ・ジャンル分布</a:t>
            </a:r>
          </a:p>
        </p:txBody>
      </p:sp>
      <p:pic>
        <p:nvPicPr>
          <p:cNvPr id="4" name="Picture 3" descr="tokyo_dens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583680" cy="5120640"/>
          </a:xfrm>
          <a:prstGeom prst="rect">
            <a:avLst/>
          </a:prstGeom>
        </p:spPr>
      </p:pic>
      <p:pic>
        <p:nvPicPr>
          <p:cNvPr id="5" name="Picture 4" descr="tokyo_genr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914400"/>
            <a:ext cx="434340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3977639"/>
            <a:ext cx="4343400" cy="20574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41605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B4437"/>
                </a:solidFill>
                <a:latin typeface="Meiryo"/>
              </a:rPr>
              <a:t>ここから言えること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4526280"/>
            <a:ext cx="3840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DB4437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主張1: 飲食店は一部エリアに極端に集中している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B4437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主張2: ジャンルによって店舗数の差が10倍以上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3b: EDA ― わかったこと → モデルへの反映</a:t>
            </a:r>
          </a:p>
        </p:txBody>
      </p:sp>
      <p:pic>
        <p:nvPicPr>
          <p:cNvPr id="4" name="Picture 3" descr="tokyo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4754880" cy="2651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40680" y="868680"/>
            <a:ext cx="6172200" cy="265176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993392"/>
            <a:ext cx="5806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F7A"/>
                </a:solidFill>
                <a:latin typeface="Meiryo"/>
              </a:rPr>
              <a:t>人口欠損率チャートが見つかりません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49039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95020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気づき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97680"/>
            <a:ext cx="4800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D5BE3"/>
                </a:solidFill>
                <a:latin typeface="Meiryo"/>
              </a:rPr>
              <a:t>• </a:t>
            </a:r>
            <a:r>
              <a:rPr sz="1400">
                <a:solidFill>
                  <a:srgbClr val="222833"/>
                </a:solidFill>
                <a:latin typeface="Meiryo"/>
              </a:rPr>
              <a:t>ほとんどのエリアは店舗1〜2軒、一部だけ100軒超 → データが偏っている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D5BE3"/>
                </a:solidFill>
                <a:latin typeface="Meiryo"/>
              </a:rPr>
              <a:t>• </a:t>
            </a:r>
            <a:r>
              <a:rPr sz="1400">
                <a:solidFill>
                  <a:srgbClr val="222833"/>
                </a:solidFill>
                <a:latin typeface="Meiryo"/>
              </a:rPr>
              <a:t>「他ジャンルの店が多いエリア」ほど飲食店が多い → 商業集積が鍵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D5BE3"/>
                </a:solidFill>
                <a:latin typeface="Meiryo"/>
              </a:rPr>
              <a:t>• </a:t>
            </a:r>
            <a:r>
              <a:rPr sz="1400">
                <a:solidFill>
                  <a:srgbClr val="222833"/>
                </a:solidFill>
                <a:latin typeface="Meiryo"/>
              </a:rPr>
              <a:t>人口データの欠損は0.2%（5/1,233メッシュ）→ ほぼ完全に揃っている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749039"/>
            <a:ext cx="5577840" cy="237744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95020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D58"/>
                </a:solidFill>
                <a:latin typeface="Meiryo"/>
              </a:rPr>
              <a:t>だからこうした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4297680"/>
            <a:ext cx="4983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0F9D58"/>
                </a:solidFill>
                <a:latin typeface="Meiryo"/>
              </a:rPr>
              <a:t>• </a:t>
            </a:r>
            <a:r>
              <a:rPr sz="1400">
                <a:solidFill>
                  <a:srgbClr val="222833"/>
                </a:solidFill>
                <a:latin typeface="Meiryo"/>
              </a:rPr>
              <a:t>偏ったデータ → 対数変換（log）で公平に比較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0F9D58"/>
                </a:solidFill>
                <a:latin typeface="Meiryo"/>
              </a:rPr>
              <a:t>• </a:t>
            </a:r>
            <a:r>
              <a:rPr sz="1400">
                <a:solidFill>
                  <a:srgbClr val="222833"/>
                </a:solidFill>
                <a:latin typeface="Meiryo"/>
              </a:rPr>
              <a:t>人口データの欠損0.2% → ゼロ埋めしてMLモデルに含む（除外しても精度差なし）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4: アプローチ ― MLで市場ギャップを予測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目的変数（何を予測するか）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log1p(restaurant_count) ＝ 各メッシュ×ジャンルの飲食店数を対数変換した値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対数変換する理由: 店舗数は0〜100超まで偏りが大きく、そのままでは少数の密集エリアに引きずられるため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D58"/>
                </a:solidFill>
                <a:latin typeface="Meiryo"/>
              </a:rPr>
              <a:t>説明変数（26特徴量）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4800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0F9D58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人口・世帯構成（11）、競合環境（4）、駅アクセス（3）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9D58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地価・Google評価（3）、ジャンル関連（5）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市場ギャップの算出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4800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LightGBMで「本来何軒あるべきか」を予測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予測値 − 実測値 = 市場ギャップ（大きい＝出店チャンス）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4983480"/>
          <a:ext cx="105156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2926080"/>
                <a:gridCol w="3017520"/>
              </a:tblGrid>
              <a:tr h="44196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ML予測のみ（デフォルト）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ルールベース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両方の組み合わせ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方式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ML予測ギャップをrank正規化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6要素の重み付け合算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ルール×0.6 + ML×0.4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特徴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精度が高い・シンプル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解釈しやすい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両方の長所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5: モデルに入れたデータ（説明変数）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833"/>
                </a:solidFill>
                <a:latin typeface="Meiryo"/>
              </a:rPr>
              <a:t>特徴量 = 「予測のヒントになるデータ」。人間が出店判断で見る情報を数値化したもの。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4297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6400800"/>
                <a:gridCol w="2377440"/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カテゴリ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個数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具体例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何を表すか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人口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7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総人口、労働人口、成人、高齢者、世帯数、単身世帯、若年単身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お客さんの数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人口比率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労働人口率、高齢者率、単身率、若年単身率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街の住民構成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競合環境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4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他ジャンル店舗数、商業密度ランク、近隣平均店舗数、飽和度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ライバルの多さ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駅アクセス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最寄駅距離、乗降客数、アクセス指数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人の流れ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地価・評価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地価、Google平均評価、店あたりレビュー数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エリアの格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ジャンル関連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ジャンル種別、多様性、集中度(HHI)、近隣平均人口、Google密度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833"/>
                          </a:solidFill>
                          <a:latin typeface="Meiryo"/>
                        </a:rPr>
                        <a:t>飲食バリエーション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8978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66F7A"/>
                </a:solidFill>
                <a:latin typeface="Meiryo"/>
              </a:rPr>
              <a:t>補足: MLは26特徴量を使用（人口系含む）。人口欠損0.2%はゼロ埋め。Optuna 100 trialでチューニング済み。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6: モデルの精度 ― 5-Fold クロスバリデーション</a:t>
            </a:r>
          </a:p>
        </p:txBody>
      </p:sp>
      <p:pic>
        <p:nvPicPr>
          <p:cNvPr id="4" name="Picture 3" descr="tokyo_scatte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50292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60720" y="868680"/>
            <a:ext cx="5852160" cy="201168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89320" y="1005840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なぜこの検証方法？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325880"/>
            <a:ext cx="5394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D5BE3"/>
                </a:solidFill>
                <a:latin typeface="Meiryo"/>
              </a:rPr>
              <a:t>• </a:t>
            </a:r>
            <a:r>
              <a:rPr sz="1300">
                <a:solidFill>
                  <a:srgbClr val="222833"/>
                </a:solidFill>
                <a:latin typeface="Meiryo"/>
              </a:rPr>
              <a:t>本来は新しい時点のデータで精度を測るのが理想だが、時系列データが取れない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D5BE3"/>
                </a:solidFill>
                <a:latin typeface="Meiryo"/>
              </a:rPr>
              <a:t>• </a:t>
            </a:r>
            <a:r>
              <a:rPr sz="1300">
                <a:solidFill>
                  <a:srgbClr val="222833"/>
                </a:solidFill>
                <a:latin typeface="Meiryo"/>
              </a:rPr>
              <a:t>学習データで評価するとリーケージ（情報漏れ）になるため、店舗数の分布が均等になるよう層化分割して汎化性能を測る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063240"/>
            <a:ext cx="5852160" cy="164592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3200400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D58"/>
                </a:solidFill>
                <a:latin typeface="Meiryo"/>
              </a:rPr>
              <a:t>具体的な方法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520440"/>
            <a:ext cx="5394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0F9D58"/>
                </a:solidFill>
                <a:latin typeface="Meiryo"/>
              </a:rPr>
              <a:t>• </a:t>
            </a:r>
            <a:r>
              <a:rPr sz="1300">
                <a:solidFill>
                  <a:srgbClr val="222833"/>
                </a:solidFill>
                <a:latin typeface="Meiryo"/>
              </a:rPr>
              <a:t>東京の4,520行を店舗数の偏りが出ないよう5グループに層化分割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F9D58"/>
                </a:solidFill>
                <a:latin typeface="Meiryo"/>
              </a:rPr>
              <a:t>• </a:t>
            </a:r>
            <a:r>
              <a:rPr sz="1300">
                <a:solidFill>
                  <a:srgbClr val="222833"/>
                </a:solidFill>
                <a:latin typeface="Meiryo"/>
              </a:rPr>
              <a:t>StratifiedKFoldで店舗数ビンが均等になるよう分割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0F9D58"/>
                </a:solidFill>
                <a:latin typeface="Meiryo"/>
              </a:rPr>
              <a:t>• </a:t>
            </a:r>
            <a:r>
              <a:rPr sz="1300">
                <a:solidFill>
                  <a:srgbClr val="222833"/>
                </a:solidFill>
                <a:latin typeface="Meiryo"/>
              </a:rPr>
              <a:t>4グループで学習→残り1グループで予測、を5回繰り返す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89204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5029200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534924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D5BE3"/>
                </a:solidFill>
                <a:latin typeface="Meiryo"/>
              </a:rPr>
              <a:t>• </a:t>
            </a:r>
            <a:r>
              <a:rPr sz="1300">
                <a:solidFill>
                  <a:srgbClr val="222833"/>
                </a:solidFill>
                <a:latin typeface="Meiryo"/>
              </a:rPr>
              <a:t>RMSE = 5.0店（実店舗数スケール）＝ 平均で約5店の誤差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D5BE3"/>
                </a:solidFill>
                <a:latin typeface="Meiryo"/>
              </a:rPr>
              <a:t>• </a:t>
            </a:r>
            <a:r>
              <a:rPr sz="1300">
                <a:solidFill>
                  <a:srgbClr val="222833"/>
                </a:solidFill>
                <a:latin typeface="Meiryo"/>
              </a:rPr>
              <a:t>中央値2店・平均4店のデータに対し、MAE = 1.6店（平均絶対誤差）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7: 何が予測に効いているか（SHAP）</a:t>
            </a:r>
          </a:p>
        </p:txBody>
      </p:sp>
      <p:pic>
        <p:nvPicPr>
          <p:cNvPr id="4" name="Picture 3" descr="shap_importance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4400"/>
            <a:ext cx="6492240" cy="5212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914400"/>
            <a:ext cx="4297680" cy="521208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17043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B4437"/>
                </a:solidFill>
                <a:latin typeface="Meiryo"/>
              </a:rPr>
              <a:t>解釈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600200"/>
            <a:ext cx="3749039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DB4437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ジャンル種別（SHAP=0.196）と他ジャンル店舗数（0.109）が上位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B4437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人口系特徴量は含めているが重要度は低い（下位に位置）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DB4437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→ 「人口が多い」より「商業集積がある」方が飲食店数を決める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8: 課題点とうまくいった点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5349240" cy="530352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430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D58"/>
                </a:solidFill>
                <a:latin typeface="Meiryo"/>
              </a:rPr>
              <a:t>うまくいった点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47548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0F9D58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RMSE = 5.0店: 実店舗数スケールで平均約5店の誤差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0F9D58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28特徴量（人口含む）でOptuna 100 trialチューニング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0F9D58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ML予測のみでシンプルかつ高精度なスコアリング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914400"/>
            <a:ext cx="5349240" cy="530352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1430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B4437"/>
                </a:solidFill>
                <a:latin typeface="Meiryo"/>
              </a:rPr>
              <a:t>課題点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1554480"/>
            <a:ext cx="47091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DB4437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約半数のエリアが店舗数1軒（データの偏り）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DB4437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バックテスト未実施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9: ビジネスインパクト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8686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24712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833"/>
                </a:solidFill>
                <a:latin typeface="Meiryo"/>
              </a:rPr>
              <a:t>「どの街に、どのジャンルの店が足りないか」を自動で見つけて、根拠付きで推薦する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5349240" cy="411480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762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5BE3"/>
                </a:solidFill>
                <a:latin typeface="Meiryo"/>
              </a:rPr>
              <a:t>新規エリア進出の判断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42032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東京都内の未出店エリアを、既存データだけで事前評価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5BE3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東京1,233メッシュ × 8ジャンル = 約9,800パターンの候補を一括で洗い出し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5349240" cy="411480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1762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D58"/>
                </a:solidFill>
                <a:latin typeface="Meiryo"/>
              </a:rPr>
              <a:t>ジャンル戦略の意思決定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542032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0F9D58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「このエリアには焼肉よりカフェの方がチャンスがある」をデータで裏付け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9D58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ジャンルごとの市場ギャップを比較し、参入優先度を決定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0F9D58"/>
                </a:solidFill>
                <a:latin typeface="Meiryo"/>
              </a:rPr>
              <a:t>• </a:t>
            </a:r>
            <a:r>
              <a:rPr sz="1500">
                <a:solidFill>
                  <a:srgbClr val="222833"/>
                </a:solidFill>
                <a:latin typeface="Meiryo"/>
              </a:rPr>
              <a:t>250mメッシュ粒度で「この通りの向こう側」レベルの精度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10: Vibe Codingの所感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86868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4241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2833"/>
                </a:solidFill>
                <a:latin typeface="Meiryo"/>
              </a:rPr>
              <a:t>自分の知識だけではここまでのモデルは作れなかった。AIが知識を補完してくれたからこそ、作りたいシステムを形にできた。ただしAIの提案を鵜呑みにしない判断力が不可欠。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8EEFD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505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D58"/>
                </a:solidFill>
                <a:latin typeface="Meiryo"/>
              </a:rPr>
              <a:t>AIに助けられた点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47548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0F9D58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6種API + 26特徴量ML + 5エリア対応ダッシュボードを一人で構築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0F9D58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知らなかった手法をAIが提案→知識の補完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0F9D58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設計→実装→テストのサイクルが速く回せた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4028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F0F2F5"/>
          </a:solidFill>
          <a:ln w="1270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5059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B4437"/>
                </a:solidFill>
                <a:latin typeface="Meiryo"/>
              </a:rPr>
              <a:t>人間が判断すべきだった点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7091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DB4437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AIが勝手に仕様変更を進めることがある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DB4437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R²やCIの解釈はドメイン知識が必要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DB4437"/>
                </a:solidFill>
                <a:latin typeface="Meiryo"/>
              </a:rPr>
              <a:t>• </a:t>
            </a:r>
            <a:r>
              <a:rPr sz="1600">
                <a:solidFill>
                  <a:srgbClr val="222833"/>
                </a:solidFill>
                <a:latin typeface="Meiryo"/>
              </a:rPr>
              <a:t>長い会話で過去の決定を忘れる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09728" cy="475488"/>
          </a:xfrm>
          <a:prstGeom prst="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1945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2833"/>
                </a:solidFill>
                <a:latin typeface="Meiryo"/>
              </a:rPr>
              <a:t>11: まとめ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5156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96112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>
                    <a:solidFill>
                      <a:srgbClr val="2D5BE3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課題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出店判断の基準をデータで統一・定量化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データ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6種の公開データ × 東京 × 8ジャンル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EDA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商業集積が飲食店数を決める要因と判明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手法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LightGBM による市場ギャップ予測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性能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5-Fold CV RMSE=5.0店（東京エリア、層化分割、Optunaチューニング済み）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活用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東京都内の出店候補・ジャンル戦略をデータで裏付け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開発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833"/>
                          </a:solidFill>
                          <a:latin typeface="Meiryo"/>
                        </a:rPr>
                        <a:t>AIと人間の判断力の掛け算で実現</a:t>
                      </a:r>
                    </a:p>
                  </a:txBody>
                  <a:tcPr anchor="ctr">
                    <a:solidFill>
                      <a:srgbClr val="E8EE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749039" y="580644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D5BE3"/>
                </a:solidFill>
                <a:latin typeface="Meiry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