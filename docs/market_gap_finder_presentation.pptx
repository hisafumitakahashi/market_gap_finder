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640080" y="822960"/>
            <a:ext cx="10881360" cy="5212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68680" y="1078992"/>
            <a:ext cx="1828800" cy="164592"/>
          </a:xfrm>
          <a:prstGeom prst="rect">
            <a:avLst/>
          </a:prstGeom>
          <a:solidFill>
            <a:srgbClr val="2D5BE3"/>
          </a:solidFill>
          <a:ln w="12700">
            <a:solidFill>
              <a:srgbClr val="2D5B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417320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222833"/>
                </a:solidFill>
                <a:latin typeface="Meiryo"/>
              </a:rPr>
              <a:t>市場空白地帯発見システム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2D5BE3"/>
                </a:solidFill>
                <a:latin typeface="Meiryo"/>
              </a:rPr>
              <a:t>Market Gap Finder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88036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222833"/>
                </a:solidFill>
                <a:latin typeface="Meiryo"/>
              </a:rPr>
              <a:t>「どこに出店すればいいか？」をデータで答える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069080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Vibe Coding with Claude Code + Codex MCP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7315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2026-04-02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1: ビジネス課題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1234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078992"/>
            <a:ext cx="1042416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「なぜ駅前にはラーメン屋が多いのか？」「この街にカフェが少ないのはなぜ？」── こうした疑問をデータで説明できたら面白い。それがこのシステムの出発点。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37744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4203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飲食店テナントは頻繁に入れ替わる。出店判断の基準は各社・各担当で異なり、新しいエリアやジャンルへの横展開が難しい。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3840480"/>
            <a:ext cx="10972800" cy="12801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0507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解決アプローチ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279392"/>
            <a:ext cx="101498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公開データから「どこに、どんなジャンルの店が足りないか？」を数値化し、エリアやジャンルを問わず使える出店基準をつくる。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5394960"/>
            <a:ext cx="4114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このテーマを選んだ理由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66928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頻繁に入れ替わる飲食テナントに対して、データでニーズを可視化したかった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各社バラバラの出店基準を、データから導く普遍的な基準に置き換えたかった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666F7A"/>
                </a:solidFill>
                <a:latin typeface="Meiryo"/>
              </a:rPr>
              <a:t>講座で学んだML・データ分析・可視化を統合的に活かせるテーマ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2: データの紹介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868680"/>
          <a:ext cx="11155679" cy="1481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754880"/>
                <a:gridCol w="3749039"/>
              </a:tblGrid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知りたいこと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データソース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需要（お客さんはいる？）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その街にどれだけ人がいるか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e-Stat（国勢調査）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供給（ライバルは？）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今どれだけ店があるか、評判は？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 / 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70332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立地条件（場所の特性は？）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駅に近い？地価は？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HeartRails / 国土数値情報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2560320"/>
          <a:ext cx="11155680" cy="210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206240"/>
                <a:gridCol w="1645920"/>
                <a:gridCol w="3108960"/>
              </a:tblGrid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API / データ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役割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粒度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補足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ホットペッパー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店舗名・ジャンル・位置情報の取得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供給の主データ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Google Places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評価・レビュー数・補完的な店舗情報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店舗単位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評判の指標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e-Stat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人口・世帯・年齢構成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250mメッシュ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需要の指標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HeartRails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最寄駅と駅距離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アクセス指標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駅乗降客数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駅の人流規模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駅単位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流動人口の近似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国土数値情報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地点単位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立地の格を表現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02920" y="4983480"/>
            <a:ext cx="5394960" cy="10972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対象エリア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5440680"/>
            <a:ext cx="48463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東京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4983480"/>
            <a:ext cx="5486400" cy="1097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513892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対象ジャンル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5440680"/>
            <a:ext cx="50292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222833"/>
                </a:solidFill>
                <a:latin typeface="Meiryo"/>
              </a:rPr>
              <a:t>カフェ / ラーメン / 居酒屋 / 焼肉 / 和食 / 中華 / イタリアン / カレー / その他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2.5: 分析の単位 ── メッシュとは？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43000"/>
            <a:ext cx="1042416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22833"/>
                </a:solidFill>
                <a:latin typeface="Meiryo"/>
              </a:rPr>
              <a:t>地図の上に250m四方のマス目（格子）を敷いて、マスごとに「飲食店は何軒？」「人口は？」を集計する。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057400"/>
            <a:ext cx="5166360" cy="33832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4028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ポイント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560320"/>
            <a:ext cx="45262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1マス = 250m × 250m（だいたいコンビニ2〜3軒分の距離感）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東京で合計 1,233マス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マスごとに「需要・供給・立地」のデータを紐づけて比較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00800" y="2240280"/>
          <a:ext cx="448056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140"/>
                <a:gridCol w="1120140"/>
                <a:gridCol w="1120140"/>
                <a:gridCol w="1120140"/>
              </a:tblGrid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Meiryo"/>
                        </a:rPr>
                        <a:t>1メッシュ</a:t>
                      </a:r>
                    </a:p>
                  </a:txBody>
                  <a:tcPr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594360" y="557784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5806440"/>
            <a:ext cx="102412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222833"/>
                </a:solidFill>
                <a:latin typeface="Meiryo"/>
              </a:rPr>
              <a:t>「渋谷区」のような大きい単位だと駅前と住宅街の違いが見えない。250m単位なら「この通りの向こう側」レベルで出店チャンスを見つけられる。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3a: EDA ― 店舗集積マップ・ジャンル分布</a:t>
            </a:r>
          </a:p>
        </p:txBody>
      </p:sp>
      <p:pic>
        <p:nvPicPr>
          <p:cNvPr id="4" name="Picture 3" descr="tokyo_density_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914400"/>
            <a:ext cx="6583680" cy="5120640"/>
          </a:xfrm>
          <a:prstGeom prst="rect">
            <a:avLst/>
          </a:prstGeom>
        </p:spPr>
      </p:pic>
      <p:pic>
        <p:nvPicPr>
          <p:cNvPr id="5" name="Picture 4" descr="tokyo_genre_b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914400"/>
            <a:ext cx="4343400" cy="283464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7315200" y="3977639"/>
            <a:ext cx="4343400" cy="20574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543800" y="4160520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ここから言えること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43800" y="4526280"/>
            <a:ext cx="384048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主張1: 飲食店は一部エリアに極端に集中している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主張2: ジャンルによって店舗数の差が10倍以上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3b: EDA ― わかったこと → モデルへの反映</a:t>
            </a:r>
          </a:p>
        </p:txBody>
      </p:sp>
      <p:pic>
        <p:nvPicPr>
          <p:cNvPr id="4" name="Picture 3" descr="tokyo_histo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4754880" cy="26517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440680" y="914400"/>
            <a:ext cx="61722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133856"/>
            <a:ext cx="5669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22833"/>
                </a:solidFill>
                <a:latin typeface="Meiryo"/>
              </a:rPr>
              <a:t>ほとんどのエリアは店舗数1〜2軒。一部だけ100軒超。対数変換で公平に比較。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749039"/>
            <a:ext cx="5394960" cy="237744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3950208"/>
            <a:ext cx="16459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気づき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4297680"/>
            <a:ext cx="480060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ほとんどのエリアは店舗1〜2軒、一部だけ100軒超 → データが偏っている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2D5BE3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「他ジャンルの店が多いエリア」ほど飲食店が多い → 商業集積が鍵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3749039"/>
            <a:ext cx="5577840" cy="237744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28" y="3950208"/>
            <a:ext cx="18288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だからこうした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4297680"/>
            <a:ext cx="49834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偏ったデータ → 対数変換（log）で公平に比較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0F9D58"/>
                </a:solidFill>
                <a:latin typeface="Meiryo"/>
              </a:rPr>
              <a:t>• </a:t>
            </a:r>
            <a:r>
              <a:rPr sz="1400">
                <a:solidFill>
                  <a:srgbClr val="222833"/>
                </a:solidFill>
                <a:latin typeface="Meiryo"/>
              </a:rPr>
              <a:t>人口データの76.7%が欠損 → 検証の結果MLモデルからは除外（精度向上）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4a: スコアの考え方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91440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61288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222833"/>
                </a:solidFill>
                <a:latin typeface="Meiryo"/>
              </a:rPr>
              <a:t>出店チャンス = ①その街に店が足りない + ②人が集まる場所 − ③ライバルが多すぎる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057400"/>
            <a:ext cx="2926080" cy="32461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D5BE3"/>
                </a:solidFill>
                <a:latin typeface="Meiryo"/>
              </a:rPr>
              <a:t>① 店が足りない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2560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22833"/>
                </a:solidFill>
                <a:latin typeface="Meiryo"/>
              </a:rPr>
              <a:t>ジャンル別ギャップ(×1.49)</a:t>
            </a:r>
            <a:br/>
            <a:r>
              <a:rPr sz="1300" b="0">
                <a:solidFill>
                  <a:srgbClr val="222833"/>
                </a:solidFill>
                <a:latin typeface="Meiryo"/>
              </a:rPr>
              <a:t>そのジャンルの全メッシュ平均</a:t>
            </a:r>
            <a:br/>
            <a:r>
              <a:rPr sz="1300" b="0">
                <a:solidFill>
                  <a:srgbClr val="222833"/>
                </a:solidFill>
                <a:latin typeface="Meiryo"/>
              </a:rPr>
              <a:t>log店舗数と比較し少なければ加点</a:t>
            </a:r>
            <a:br/>
            <a:br/>
            <a:r>
              <a:rPr sz="1300" b="0">
                <a:solidFill>
                  <a:srgbClr val="222833"/>
                </a:solidFill>
                <a:latin typeface="Meiryo"/>
              </a:rPr>
              <a:t>ジャンル集中度(×0.07)</a:t>
            </a:r>
            <a:br/>
            <a:r>
              <a:rPr sz="1300" b="0">
                <a:solidFill>
                  <a:srgbClr val="222833"/>
                </a:solidFill>
                <a:latin typeface="Meiryo"/>
              </a:rPr>
              <a:t>特定ジャンルに偏っていれば加点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60520" y="2057400"/>
            <a:ext cx="2926080" cy="32461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233172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F9D58"/>
                </a:solidFill>
                <a:latin typeface="Meiryo"/>
              </a:rPr>
              <a:t>② 人が集まる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2788920"/>
            <a:ext cx="2560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22833"/>
                </a:solidFill>
                <a:latin typeface="Meiryo"/>
              </a:rPr>
              <a:t>他ジャンル店舗数(×2.71)</a:t>
            </a:r>
            <a:br/>
            <a:r>
              <a:rPr sz="1300" b="0">
                <a:solidFill>
                  <a:srgbClr val="222833"/>
                </a:solidFill>
                <a:latin typeface="Meiryo"/>
              </a:rPr>
              <a:t>カフェ以外の飲食店が多い</a:t>
            </a:r>
            <a:br/>
            <a:r>
              <a:rPr sz="1300" b="0">
                <a:solidFill>
                  <a:srgbClr val="222833"/>
                </a:solidFill>
                <a:latin typeface="Meiryo"/>
              </a:rPr>
              <a:t>＝商業集積があり集客力が高い</a:t>
            </a:r>
            <a:br/>
            <a:br/>
            <a:r>
              <a:rPr sz="1300" b="0">
                <a:solidFill>
                  <a:srgbClr val="222833"/>
                </a:solidFill>
                <a:latin typeface="Meiryo"/>
              </a:rPr>
              <a:t>Google評価(×0.31)</a:t>
            </a:r>
            <a:br/>
            <a:r>
              <a:rPr sz="1300" b="0">
                <a:solidFill>
                  <a:srgbClr val="222833"/>
                </a:solidFill>
                <a:latin typeface="Meiryo"/>
              </a:rPr>
              <a:t>エリアの評判が高ければ加点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0" y="2057400"/>
            <a:ext cx="2926080" cy="32461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0" y="2331720"/>
            <a:ext cx="2560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B4437"/>
                </a:solidFill>
                <a:latin typeface="Meiryo"/>
              </a:rPr>
              <a:t>③ ライバル過多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2788920"/>
            <a:ext cx="2560320" cy="2286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222833"/>
                </a:solidFill>
                <a:latin typeface="Meiryo"/>
              </a:rPr>
              <a:t>飽和度(×0.15)</a:t>
            </a:r>
            <a:br/>
            <a:r>
              <a:rPr sz="1300" b="0">
                <a:solidFill>
                  <a:srgbClr val="222833"/>
                </a:solidFill>
                <a:latin typeface="Meiryo"/>
              </a:rPr>
              <a:t>人口あたり店舗数が</a:t>
            </a:r>
            <a:br/>
            <a:r>
              <a:rPr sz="1300" b="0">
                <a:solidFill>
                  <a:srgbClr val="222833"/>
                </a:solidFill>
                <a:latin typeface="Meiryo"/>
              </a:rPr>
              <a:t>多すぎれば減点</a:t>
            </a:r>
            <a:br/>
            <a:br/>
            <a:r>
              <a:rPr sz="1300" b="0">
                <a:solidFill>
                  <a:srgbClr val="222833"/>
                </a:solidFill>
                <a:latin typeface="Meiryo"/>
              </a:rPr>
              <a:t>近隣競合(×0.05)</a:t>
            </a:r>
            <a:br/>
            <a:r>
              <a:rPr sz="1300" b="0">
                <a:solidFill>
                  <a:srgbClr val="222833"/>
                </a:solidFill>
                <a:latin typeface="Meiryo"/>
              </a:rPr>
              <a:t>周囲メッシュの平均店舗数が</a:t>
            </a:r>
            <a:br/>
            <a:r>
              <a:rPr sz="1300" b="0">
                <a:solidFill>
                  <a:srgbClr val="222833"/>
                </a:solidFill>
                <a:latin typeface="Meiryo"/>
              </a:rPr>
              <a:t>多ければ減点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577840"/>
            <a:ext cx="9784080" cy="82296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5650992"/>
            <a:ext cx="9326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222833"/>
                </a:solidFill>
                <a:latin typeface="Meiryo"/>
              </a:rPr>
              <a:t>各指標は0〜1に正規化（ジャンルギャップのみlog店舗数の差分）。(×数値)はOptunaで自動最適化した重み。他ジャンル店舗数(2.71)が最も重い＝商業集積がスコアを最も左右する。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4b: 2つのアプローチを組み合わせる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914400"/>
            <a:ext cx="5440680" cy="22860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115568"/>
            <a:ext cx="310896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スコア計算（前スライドの考え方）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481328"/>
            <a:ext cx="480060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①店が足りない + ②人が集まる − ③ライバル過多 の3観点を重み付け合算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6要素の重みをOptuna（自動最適化）で調整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914400"/>
            <a:ext cx="5440680" cy="22860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115568"/>
            <a:ext cx="29260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ML予測（LightGBM = 高速な機械学習手法）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481328"/>
            <a:ext cx="470916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28特徴量から「本来何軒あるべきか」を予測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予測値 − 実測値 = 市場ギャップ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005840" y="3749039"/>
          <a:ext cx="10195560" cy="1691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560320"/>
                <a:gridCol w="2377440"/>
                <a:gridCol w="3886200"/>
              </a:tblGrid>
              <a:tr h="422910"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スコア計算(v3b)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ML Gap(v5)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eiryo"/>
                        </a:rPr>
                        <a:t>アンサンブル(v4)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特徴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解釈しやすい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精度が高い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両方の長所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弱点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非線形パターンを見逃す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ブラックボックス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2910"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一致度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—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—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833"/>
                          </a:solidFill>
                          <a:latin typeface="Meiryo"/>
                        </a:rPr>
                        <a:t>Spearman相関 = 0.572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1051560" y="5623560"/>
            <a:ext cx="10058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現在はv5（ML Gapのみ）をデフォルト採用。v4（アンサンブル）も選択可能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5a: モデルに入れたデータ（特徴量）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686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特徴量 = 「予測のヒントになるデータ」。人間が出店判断で見る情報を数値化したもの。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371600"/>
          <a:ext cx="10058400" cy="42976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22960"/>
                <a:gridCol w="3657600"/>
                <a:gridCol w="1920240"/>
                <a:gridCol w="1828800"/>
              </a:tblGrid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カテゴリ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個数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具体例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何を表すか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Meiryo"/>
                        </a:rPr>
                        <a:t>スコア計算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7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総人口、働く世代、高齢者、単身世帯…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お客さんの数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★人口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人口比率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労働人口率、高齢者率、単身率…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街の住民構成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競合環境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他ジャンル店舗数、飽和度、近隣平均…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ライバルの多さ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★4個全て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駅アクセス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最寄駅距離、乗降客数、アクセス指数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人の流れ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地価・評価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4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地価、Google評価、レビュー数…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エリアの格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★Google評価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61395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ジャンル関連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ジャンル種別、多様性、集中度…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飲食バリエーション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833"/>
                          </a:solidFill>
                          <a:latin typeface="Meiryo"/>
                        </a:rPr>
                        <a:t>★集中度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94360" y="5897880"/>
            <a:ext cx="10972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F7A"/>
                </a:solidFill>
                <a:latin typeface="Meiryo"/>
              </a:rPr>
              <a:t>補足: MLは28特徴量を使用（人口系含む）。人口欠損10.1%はゼロ埋め。Optuna 100 trialでチューニング済み。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5b: モデルの精度 ― 5-Fold クロスバリデーション</a:t>
            </a:r>
          </a:p>
        </p:txBody>
      </p:sp>
      <p:pic>
        <p:nvPicPr>
          <p:cNvPr id="4" name="Picture 3" descr="tokyo_scatter_actual_vs_pr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868680"/>
            <a:ext cx="5029200" cy="41148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760720" y="868680"/>
            <a:ext cx="5852160" cy="2011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89320" y="100584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なぜこの検証方法？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89320" y="1325880"/>
            <a:ext cx="539496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本来はモデル構築後に新しい時点のデータで精度を測るのが理想だが、時系列データが取れない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学習データで評価するとリーケージ（情報漏れ）になるため、空間的に分割して未知のエリアに対する予測力を測る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760720" y="3063240"/>
            <a:ext cx="5852160" cy="16459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89320" y="32004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具体的な方法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89320" y="3520440"/>
            <a:ext cx="539496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東京の4,520行を店舗数の偏りが出ないよう5グループに層化分割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StratifiedKFoldで店舗数ビンが均等になるよう分割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0F9D58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4グループで学習→残り1グループで予測、を5回繰り返す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60720" y="4892040"/>
            <a:ext cx="5852160" cy="13716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89320" y="5029200"/>
            <a:ext cx="53035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結果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5349240"/>
            <a:ext cx="53949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R²=0.787（平均）＝飲食店数のばらつきの約79%を説明できる</a:t>
            </a:r>
          </a:p>
          <a:p>
            <a:pPr>
              <a:spcAft>
                <a:spcPts val="500"/>
              </a:spcAft>
            </a:pPr>
            <a:r>
              <a:rPr sz="1300">
                <a:solidFill>
                  <a:srgbClr val="2D5BE3"/>
                </a:solidFill>
                <a:latin typeface="Meiryo"/>
              </a:rPr>
              <a:t>• </a:t>
            </a:r>
            <a:r>
              <a:rPr sz="1300">
                <a:solidFill>
                  <a:srgbClr val="222833"/>
                </a:solidFill>
                <a:latin typeface="Meiryo"/>
              </a:rPr>
              <a:t>RMSE=0.329（対数スケール上の平均誤差）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5c: 何が予測に効いているか（SHAP）</a:t>
            </a:r>
          </a:p>
        </p:txBody>
      </p:sp>
      <p:pic>
        <p:nvPicPr>
          <p:cNvPr id="4" name="Picture 3" descr="shap_importance_top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914400"/>
            <a:ext cx="6492240" cy="521208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315200" y="914400"/>
            <a:ext cx="4297680" cy="521208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43800" y="1170432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解釈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43800" y="1600200"/>
            <a:ext cx="3749039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ジャンル種別（SHAP=0.196）と他ジャンル店舗数（0.109）が上位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人口系特徴量は含めているが重要度は低い（下位に位置）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DB4437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→ 「人口が多い」より「商業集積がある」方が飲食店数を決める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6: 課題点とうまくいった点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9611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うまくいった点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1554480"/>
            <a:ext cx="475488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R²=0.787: 飲食店数の約79%を説明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28特徴量（人口含む）でOptuna 100 trialチューニング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v5（ML Gapのみ）でシンプルかつ高精度なスコアリング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914400"/>
            <a:ext cx="5349240" cy="53035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28232" y="1143000"/>
            <a:ext cx="25603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課題点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28232" y="1554480"/>
            <a:ext cx="4709160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約半数のエリアが店舗数1軒（データの偏り）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バックテスト未実施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7: ビジネスインパクト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86868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124712"/>
            <a:ext cx="1033272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222833"/>
                </a:solidFill>
                <a:latin typeface="Meiryo"/>
              </a:rPr>
              <a:t>「どの街に、どのジャンルの店が足りないか」を自動で見つけて、根拠付きで推薦する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2D5BE3"/>
                </a:solidFill>
                <a:latin typeface="Meiryo"/>
              </a:rPr>
              <a:t>新規エリア進出の判断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東京都内の未出店エリアを、既存データだけで事前評価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2D5BE3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東京1,233メッシュ × 9ジャンル = 約11,000パターンの候補を一括で洗い出し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65960"/>
            <a:ext cx="5349240" cy="411480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9088" y="2176272"/>
            <a:ext cx="3200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ジャンル戦略の意思決定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9088" y="2542032"/>
            <a:ext cx="4754880" cy="3200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「このエリアには焼肉よりカフェの方がチャンスがある」をデータで裏付け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ジャンルごとの市場ギャップを比較し、参入優先度を決定</a:t>
            </a:r>
          </a:p>
          <a:p>
            <a:pPr>
              <a:spcAft>
                <a:spcPts val="500"/>
              </a:spcAft>
            </a:pPr>
            <a:r>
              <a:rPr sz="1500">
                <a:solidFill>
                  <a:srgbClr val="0F9D58"/>
                </a:solidFill>
                <a:latin typeface="Meiryo"/>
              </a:rPr>
              <a:t>• </a:t>
            </a:r>
            <a:r>
              <a:rPr sz="1500">
                <a:solidFill>
                  <a:srgbClr val="222833"/>
                </a:solidFill>
                <a:latin typeface="Meiryo"/>
              </a:rPr>
              <a:t>250mメッシュ粒度で「この通りの向こう側」レベルの精度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8: Vibe Codingの所感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868680"/>
            <a:ext cx="10972800" cy="105156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078992"/>
            <a:ext cx="1042416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222833"/>
                </a:solidFill>
                <a:latin typeface="Meiryo"/>
              </a:rPr>
              <a:t>自分の知識だけではここまでのモデルは作れなかった。AIが知識を補完してくれたからこそ、作りたいシステムを形にできた。ただしAIの提案を鵜呑みにしない判断力が不可欠。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E8EEFD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50592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F9D58"/>
                </a:solidFill>
                <a:latin typeface="Meiryo"/>
              </a:rPr>
              <a:t>AIに助けられた点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16352"/>
            <a:ext cx="475488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6種API+28特徴量ML+ダッシュボードを一人で構築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知らなかった手法をAIが提案→知識の補完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0F9D58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設計→実装→テストのサイクルが速く回せた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240280"/>
            <a:ext cx="5394960" cy="3474720"/>
          </a:xfrm>
          <a:prstGeom prst="roundRect">
            <a:avLst>
              <a:gd name="adj" fmla="val 8000"/>
            </a:avLst>
          </a:prstGeom>
          <a:solidFill>
            <a:srgbClr val="F0F2F5"/>
          </a:solidFill>
          <a:ln w="12700">
            <a:solidFill>
              <a:srgbClr val="D7DE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50592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DB4437"/>
                </a:solidFill>
                <a:latin typeface="Meiryo"/>
              </a:rPr>
              <a:t>人間が判断すべきだった点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816352"/>
            <a:ext cx="4709160" cy="24688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AIが勝手に仕様変更を進めることがある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R²やCIの解釈はドメイン知識が必要</a:t>
            </a:r>
          </a:p>
          <a:p>
            <a:pPr>
              <a:spcAft>
                <a:spcPts val="500"/>
              </a:spcAft>
            </a:pPr>
            <a:r>
              <a:rPr sz="1600">
                <a:solidFill>
                  <a:srgbClr val="DB4437"/>
                </a:solidFill>
                <a:latin typeface="Meiryo"/>
              </a:rPr>
              <a:t>• </a:t>
            </a:r>
            <a:r>
              <a:rPr sz="1600">
                <a:solidFill>
                  <a:srgbClr val="222833"/>
                </a:solidFill>
                <a:latin typeface="Meiryo"/>
              </a:rPr>
              <a:t>長い会話で過去の決定を忘れる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2D5B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13232" y="219456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222833"/>
                </a:solidFill>
                <a:latin typeface="Meiryo"/>
              </a:rPr>
              <a:t>9: まとめ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051560"/>
          <a:ext cx="10789920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8961120"/>
              </a:tblGrid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項目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Meiryo"/>
                        </a:rPr>
                        <a:t>内容</a:t>
                      </a:r>
                    </a:p>
                  </a:txBody>
                  <a:tcPr anchor="ctr">
                    <a:solidFill>
                      <a:srgbClr val="2D5BE3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課題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出店判断の基準をデータで統一・定量化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データ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6種の公開データ × 東京 × 9ジャンル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EDA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商業集積が飲食店数を決める要因と判明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手法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スコア計算 + MLの組み合わせ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性能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5-Fold CV R²=0.787（東京エリア、層化分割、Optunaチューニング済み）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活用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東京都内の出店候補・ジャンル戦略をデータで裏付け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0070"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開発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833"/>
                          </a:solidFill>
                          <a:latin typeface="Meiryo"/>
                        </a:rPr>
                        <a:t>AIと人間の判断力の掛け算で実現</a:t>
                      </a:r>
                    </a:p>
                  </a:txBody>
                  <a:tcPr anchor="ctr">
                    <a:solidFill>
                      <a:srgbClr val="E8EEFD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749039" y="5806440"/>
            <a:ext cx="47548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2D5BE3"/>
                </a:solidFill>
                <a:latin typeface="Meiryo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