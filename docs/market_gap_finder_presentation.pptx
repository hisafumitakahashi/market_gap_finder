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822960"/>
            <a:ext cx="10881360" cy="5212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68680" y="1078992"/>
            <a:ext cx="1828800" cy="164592"/>
          </a:xfrm>
          <a:prstGeom prst="rect">
            <a:avLst/>
          </a:prstGeom>
          <a:solidFill>
            <a:srgbClr val="2D5BE3"/>
          </a:solidFill>
          <a:ln w="12700">
            <a:solidFill>
              <a:srgbClr val="2D5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41732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222833"/>
                </a:solidFill>
                <a:latin typeface="Meiryo"/>
              </a:rPr>
              <a:t>市場空白地帯発見システム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103120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2D5BE3"/>
                </a:solidFill>
                <a:latin typeface="Meiryo"/>
              </a:rPr>
              <a:t>Market Gap Finder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880360"/>
            <a:ext cx="10058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222833"/>
                </a:solidFill>
                <a:latin typeface="Meiryo"/>
              </a:rPr>
              <a:t>「どこに出店すればいいか？」をデータで答える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406908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66F7A"/>
                </a:solidFill>
                <a:latin typeface="Meiryo"/>
              </a:rPr>
              <a:t>Vibe Coding with Claude Code + Codex MCP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4407408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66F7A"/>
                </a:solidFill>
                <a:latin typeface="Meiryo"/>
              </a:rPr>
              <a:t>2026-04-08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47472"/>
            <a:ext cx="109728" cy="475488"/>
          </a:xfrm>
          <a:prstGeom prst="rect">
            <a:avLst/>
          </a:prstGeom>
          <a:solidFill>
            <a:srgbClr val="2D5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19456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22833"/>
                </a:solidFill>
                <a:latin typeface="Meiryo"/>
              </a:rPr>
              <a:t>1: ビジネス課題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914400"/>
            <a:ext cx="10972800" cy="1234440"/>
          </a:xfrm>
          <a:prstGeom prst="roundRect">
            <a:avLst>
              <a:gd name="adj" fmla="val 8000"/>
            </a:avLst>
          </a:prstGeom>
          <a:solidFill>
            <a:srgbClr val="E8EEFD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078992"/>
            <a:ext cx="1042416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222833"/>
                </a:solidFill>
                <a:latin typeface="Meiryo"/>
              </a:rPr>
              <a:t>「なぜ駅前にはラーメン屋が多いのか？」「この街にカフェが少ないのはなぜ？」── こうした疑問をデータで説明できたら面白い。それがこのシステムの出発点。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377440"/>
            <a:ext cx="10972800" cy="1280160"/>
          </a:xfrm>
          <a:prstGeom prst="roundRect">
            <a:avLst>
              <a:gd name="adj" fmla="val 8000"/>
            </a:avLst>
          </a:prstGeom>
          <a:solidFill>
            <a:srgbClr val="F0F2F5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542032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DB4437"/>
                </a:solidFill>
                <a:latin typeface="Meiryo"/>
              </a:rPr>
              <a:t>課題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816352"/>
            <a:ext cx="101498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222833"/>
                </a:solidFill>
                <a:latin typeface="Meiryo"/>
              </a:rPr>
              <a:t>飲食店テナントは頻繁に入れ替わる。出店判断の基準は各社・各担当で異なり、新しいエリアやジャンルへの横展開が難しい。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3840480"/>
            <a:ext cx="10972800" cy="1280160"/>
          </a:xfrm>
          <a:prstGeom prst="roundRect">
            <a:avLst>
              <a:gd name="adj" fmla="val 8000"/>
            </a:avLst>
          </a:prstGeom>
          <a:solidFill>
            <a:srgbClr val="E8EEFD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005072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F9D58"/>
                </a:solidFill>
                <a:latin typeface="Meiryo"/>
              </a:rPr>
              <a:t>解決アプローチ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279392"/>
            <a:ext cx="101498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222833"/>
                </a:solidFill>
                <a:latin typeface="Meiryo"/>
              </a:rPr>
              <a:t>公開データから「どこに、どんなジャンルの店が足りないか？」を数値化し、エリアやジャンルを問わず使える出店基準をつくる。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5394960"/>
            <a:ext cx="4114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22833"/>
                </a:solidFill>
                <a:latin typeface="Meiryo"/>
              </a:rPr>
              <a:t>このテーマを選んだ理由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669280"/>
            <a:ext cx="104241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400">
                <a:solidFill>
                  <a:srgbClr val="2D5BE3"/>
                </a:solidFill>
                <a:latin typeface="Meiryo"/>
              </a:rPr>
              <a:t>• </a:t>
            </a:r>
            <a:r>
              <a:rPr sz="1400">
                <a:solidFill>
                  <a:srgbClr val="666F7A"/>
                </a:solidFill>
                <a:latin typeface="Meiryo"/>
              </a:rPr>
              <a:t>頻繁に入れ替わる飲食テナントに対して、データでニーズを可視化したかった</a:t>
            </a:r>
          </a:p>
          <a:p>
            <a:pPr>
              <a:spcAft>
                <a:spcPts val="500"/>
              </a:spcAft>
            </a:pPr>
            <a:r>
              <a:rPr sz="1400">
                <a:solidFill>
                  <a:srgbClr val="2D5BE3"/>
                </a:solidFill>
                <a:latin typeface="Meiryo"/>
              </a:rPr>
              <a:t>• </a:t>
            </a:r>
            <a:r>
              <a:rPr sz="1400">
                <a:solidFill>
                  <a:srgbClr val="666F7A"/>
                </a:solidFill>
                <a:latin typeface="Meiryo"/>
              </a:rPr>
              <a:t>各社バラバラの出店基準を、データから導く普遍的な基準に置き換えたかった</a:t>
            </a:r>
          </a:p>
          <a:p>
            <a:pPr>
              <a:spcAft>
                <a:spcPts val="500"/>
              </a:spcAft>
            </a:pPr>
            <a:r>
              <a:rPr sz="1400">
                <a:solidFill>
                  <a:srgbClr val="2D5BE3"/>
                </a:solidFill>
                <a:latin typeface="Meiryo"/>
              </a:rPr>
              <a:t>• </a:t>
            </a:r>
            <a:r>
              <a:rPr sz="1400">
                <a:solidFill>
                  <a:srgbClr val="666F7A"/>
                </a:solidFill>
                <a:latin typeface="Meiryo"/>
              </a:rPr>
              <a:t>講座で学んだML・データ分析・可視化を統合的に活かせるテーマ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47472"/>
            <a:ext cx="109728" cy="475488"/>
          </a:xfrm>
          <a:prstGeom prst="rect">
            <a:avLst/>
          </a:prstGeom>
          <a:solidFill>
            <a:srgbClr val="2D5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19456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22833"/>
                </a:solidFill>
                <a:latin typeface="Meiryo"/>
              </a:rPr>
              <a:t>2: データの紹介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868680"/>
          <a:ext cx="11155679" cy="14813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4754880"/>
                <a:gridCol w="3749039"/>
              </a:tblGrid>
              <a:tr h="370332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eiryo"/>
                        </a:rPr>
                        <a:t>カテゴリ</a:t>
                      </a:r>
                    </a:p>
                  </a:txBody>
                  <a:tcPr anchor="ctr">
                    <a:solidFill>
                      <a:srgbClr val="2D5B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eiryo"/>
                        </a:rPr>
                        <a:t>知りたいこと</a:t>
                      </a:r>
                    </a:p>
                  </a:txBody>
                  <a:tcPr anchor="ctr">
                    <a:solidFill>
                      <a:srgbClr val="2D5B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eiryo"/>
                        </a:rPr>
                        <a:t>データソース</a:t>
                      </a:r>
                    </a:p>
                  </a:txBody>
                  <a:tcPr anchor="ctr">
                    <a:solidFill>
                      <a:srgbClr val="2D5BE3"/>
                    </a:solidFill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833"/>
                          </a:solidFill>
                          <a:latin typeface="Meiryo"/>
                        </a:rPr>
                        <a:t>需要（お客さんはいる？）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833"/>
                          </a:solidFill>
                          <a:latin typeface="Meiryo"/>
                        </a:rPr>
                        <a:t>その街にどれだけ人がいるか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833"/>
                          </a:solidFill>
                          <a:latin typeface="Meiryo"/>
                        </a:rPr>
                        <a:t>e-Stat（国勢調査）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833"/>
                          </a:solidFill>
                          <a:latin typeface="Meiryo"/>
                        </a:rPr>
                        <a:t>供給（ライバルは？）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833"/>
                          </a:solidFill>
                          <a:latin typeface="Meiryo"/>
                        </a:rPr>
                        <a:t>今どれだけ店があるか、評判は？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833"/>
                          </a:solidFill>
                          <a:latin typeface="Meiryo"/>
                        </a:rPr>
                        <a:t>ホットペッパー / Google Places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833"/>
                          </a:solidFill>
                          <a:latin typeface="Meiryo"/>
                        </a:rPr>
                        <a:t>立地条件（場所の特性は？）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833"/>
                          </a:solidFill>
                          <a:latin typeface="Meiryo"/>
                        </a:rPr>
                        <a:t>駅に近い？地価は？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833"/>
                          </a:solidFill>
                          <a:latin typeface="Meiryo"/>
                        </a:rPr>
                        <a:t>HeartRails / 国土数値情報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2560320"/>
          <a:ext cx="11155680" cy="21031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4206240"/>
                <a:gridCol w="1645920"/>
                <a:gridCol w="3108960"/>
              </a:tblGrid>
              <a:tr h="300445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</a:rPr>
                        <a:t>API / データ</a:t>
                      </a:r>
                    </a:p>
                  </a:txBody>
                  <a:tcPr anchor="ctr">
                    <a:solidFill>
                      <a:srgbClr val="2D5B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</a:rPr>
                        <a:t>役割</a:t>
                      </a:r>
                    </a:p>
                  </a:txBody>
                  <a:tcPr anchor="ctr">
                    <a:solidFill>
                      <a:srgbClr val="2D5B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</a:rPr>
                        <a:t>粒度</a:t>
                      </a:r>
                    </a:p>
                  </a:txBody>
                  <a:tcPr anchor="ctr">
                    <a:solidFill>
                      <a:srgbClr val="2D5B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</a:rPr>
                        <a:t>補足</a:t>
                      </a:r>
                    </a:p>
                  </a:txBody>
                  <a:tcPr anchor="ctr">
                    <a:solidFill>
                      <a:srgbClr val="2D5BE3"/>
                    </a:solidFill>
                  </a:tcPr>
                </a:tc>
              </a:tr>
              <a:tr h="30044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ホットペッパー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店舗名・ジャンル・位置情報の取得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店舗単位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供給の主データ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</a:tr>
              <a:tr h="30044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Google Places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評価・レビュー数・補完的な店舗情報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店舗単位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評判の指標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044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e-Stat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人口・世帯・年齢構成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250mメッシュ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需要の指標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</a:tr>
              <a:tr h="30044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HeartRails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最寄駅と駅距離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地点単位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アクセス指標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044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駅乗降客数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駅の人流規模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駅単位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流動人口の近似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</a:tr>
              <a:tr h="30044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国土数値情報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地価データ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地点単位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立地の格を表現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02920" y="4983480"/>
            <a:ext cx="5394960" cy="1097280"/>
          </a:xfrm>
          <a:prstGeom prst="roundRect">
            <a:avLst>
              <a:gd name="adj" fmla="val 8000"/>
            </a:avLst>
          </a:prstGeom>
          <a:solidFill>
            <a:srgbClr val="E8EEFD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138928"/>
            <a:ext cx="1828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D5BE3"/>
                </a:solidFill>
                <a:latin typeface="Meiryo"/>
              </a:rPr>
              <a:t>対象エリア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440680"/>
            <a:ext cx="48463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22833"/>
                </a:solidFill>
                <a:latin typeface="Meiryo"/>
              </a:rPr>
              <a:t>東京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4983480"/>
            <a:ext cx="5486400" cy="1097280"/>
          </a:xfrm>
          <a:prstGeom prst="roundRect">
            <a:avLst>
              <a:gd name="adj" fmla="val 8000"/>
            </a:avLst>
          </a:prstGeom>
          <a:solidFill>
            <a:srgbClr val="F0F2F5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5138928"/>
            <a:ext cx="1828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D5BE3"/>
                </a:solidFill>
                <a:latin typeface="Meiryo"/>
              </a:rPr>
              <a:t>対象ジャンル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5440680"/>
            <a:ext cx="50292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22833"/>
                </a:solidFill>
                <a:latin typeface="Meiryo"/>
              </a:rPr>
              <a:t>カフェ / ラーメン / 居酒屋 / 焼肉 / 和食 / 中華 / イタリアン / その他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47472"/>
            <a:ext cx="109728" cy="475488"/>
          </a:xfrm>
          <a:prstGeom prst="rect">
            <a:avLst/>
          </a:prstGeom>
          <a:solidFill>
            <a:srgbClr val="2D5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19456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22833"/>
                </a:solidFill>
                <a:latin typeface="Meiryo"/>
              </a:rPr>
              <a:t>2.5: 分析の単位 ── メッシュとは？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914400"/>
            <a:ext cx="10972800" cy="914400"/>
          </a:xfrm>
          <a:prstGeom prst="roundRect">
            <a:avLst>
              <a:gd name="adj" fmla="val 8000"/>
            </a:avLst>
          </a:prstGeom>
          <a:solidFill>
            <a:srgbClr val="E8EEFD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143000"/>
            <a:ext cx="104241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22833"/>
                </a:solidFill>
                <a:latin typeface="Meiryo"/>
              </a:rPr>
              <a:t>地図の上に250m四方のマス目（格子）を敷いて、マスごとに「飲食店は何軒？」「人口は？」を集計する。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057400"/>
            <a:ext cx="5166360" cy="3383280"/>
          </a:xfrm>
          <a:prstGeom prst="roundRect">
            <a:avLst>
              <a:gd name="adj" fmla="val 8000"/>
            </a:avLst>
          </a:prstGeom>
          <a:solidFill>
            <a:srgbClr val="F0F2F5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240280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D5BE3"/>
                </a:solidFill>
                <a:latin typeface="Meiryo"/>
              </a:rPr>
              <a:t>ポイント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560320"/>
            <a:ext cx="4526280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500">
                <a:solidFill>
                  <a:srgbClr val="2D5BE3"/>
                </a:solidFill>
                <a:latin typeface="Meiryo"/>
              </a:rPr>
              <a:t>• </a:t>
            </a:r>
            <a:r>
              <a:rPr sz="1500">
                <a:solidFill>
                  <a:srgbClr val="222833"/>
                </a:solidFill>
                <a:latin typeface="Meiryo"/>
              </a:rPr>
              <a:t>1マス = 250m × 250m（だいたいコンビニ2〜3軒分の距離感）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2D5BE3"/>
                </a:solidFill>
                <a:latin typeface="Meiryo"/>
              </a:rPr>
              <a:t>• </a:t>
            </a:r>
            <a:r>
              <a:rPr sz="1500">
                <a:solidFill>
                  <a:srgbClr val="222833"/>
                </a:solidFill>
                <a:latin typeface="Meiryo"/>
              </a:rPr>
              <a:t>東京で合計 1,233マス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2D5BE3"/>
                </a:solidFill>
                <a:latin typeface="Meiryo"/>
              </a:rPr>
              <a:t>• </a:t>
            </a:r>
            <a:r>
              <a:rPr sz="1500">
                <a:solidFill>
                  <a:srgbClr val="222833"/>
                </a:solidFill>
                <a:latin typeface="Meiryo"/>
              </a:rPr>
              <a:t>マスごとに「需要・供給・立地」のデータを紐づけて比較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0" y="2240280"/>
          <a:ext cx="448056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20140"/>
                <a:gridCol w="1120140"/>
                <a:gridCol w="1120140"/>
                <a:gridCol w="1120140"/>
              </a:tblGrid>
              <a:tr h="731520">
                <a:tc>
                  <a:txBody>
                    <a:bodyPr/>
                    <a:lstStyle/>
                    <a:p/>
                  </a:txBody>
                  <a:tcPr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eiryo"/>
                        </a:rPr>
                        <a:t>1メッシュ</a:t>
                      </a:r>
                    </a:p>
                  </a:txBody>
                  <a:tcPr>
                    <a:solidFill>
                      <a:srgbClr val="2D5BE3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E8EEFD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/>
                  </a:txBody>
                  <a:tcPr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E8EEFD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94360" y="5577840"/>
            <a:ext cx="10972800" cy="868680"/>
          </a:xfrm>
          <a:prstGeom prst="roundRect">
            <a:avLst>
              <a:gd name="adj" fmla="val 8000"/>
            </a:avLst>
          </a:prstGeom>
          <a:solidFill>
            <a:srgbClr val="E8EEFD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580644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222833"/>
                </a:solidFill>
                <a:latin typeface="Meiryo"/>
              </a:rPr>
              <a:t>「渋谷区」のような大きい単位だと駅前と住宅街の違いが見えない。250m単位なら「この通りの向こう側」レベルで出店チャンスを見つけられる。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47472"/>
            <a:ext cx="109728" cy="475488"/>
          </a:xfrm>
          <a:prstGeom prst="rect">
            <a:avLst/>
          </a:prstGeom>
          <a:solidFill>
            <a:srgbClr val="2D5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19456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22833"/>
                </a:solidFill>
                <a:latin typeface="Meiryo"/>
              </a:rPr>
              <a:t>3a: EDA ― 店舗集積マップ・ジャンル分布</a:t>
            </a:r>
          </a:p>
        </p:txBody>
      </p:sp>
      <p:pic>
        <p:nvPicPr>
          <p:cNvPr id="4" name="Picture 3" descr="tokyo_density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914400"/>
            <a:ext cx="6583680" cy="5120640"/>
          </a:xfrm>
          <a:prstGeom prst="rect">
            <a:avLst/>
          </a:prstGeom>
        </p:spPr>
      </p:pic>
      <p:pic>
        <p:nvPicPr>
          <p:cNvPr id="5" name="Picture 4" descr="tokyo_genre_b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914400"/>
            <a:ext cx="4343400" cy="283464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0" y="3977639"/>
            <a:ext cx="4343400" cy="2057400"/>
          </a:xfrm>
          <a:prstGeom prst="roundRect">
            <a:avLst>
              <a:gd name="adj" fmla="val 8000"/>
            </a:avLst>
          </a:prstGeom>
          <a:solidFill>
            <a:srgbClr val="F0F2F5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43800" y="4160520"/>
            <a:ext cx="1828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DB4437"/>
                </a:solidFill>
                <a:latin typeface="Meiryo"/>
              </a:rPr>
              <a:t>ここから言えること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43800" y="4526280"/>
            <a:ext cx="38404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500">
                <a:solidFill>
                  <a:srgbClr val="DB4437"/>
                </a:solidFill>
                <a:latin typeface="Meiryo"/>
              </a:rPr>
              <a:t>• </a:t>
            </a:r>
            <a:r>
              <a:rPr sz="1500">
                <a:solidFill>
                  <a:srgbClr val="222833"/>
                </a:solidFill>
                <a:latin typeface="Meiryo"/>
              </a:rPr>
              <a:t>主張1: 飲食店は一部エリアに極端に集中している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DB4437"/>
                </a:solidFill>
                <a:latin typeface="Meiryo"/>
              </a:rPr>
              <a:t>• </a:t>
            </a:r>
            <a:r>
              <a:rPr sz="1500">
                <a:solidFill>
                  <a:srgbClr val="222833"/>
                </a:solidFill>
                <a:latin typeface="Meiryo"/>
              </a:rPr>
              <a:t>主張2: ジャンルによって店舗数の差が10倍以上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47472"/>
            <a:ext cx="109728" cy="475488"/>
          </a:xfrm>
          <a:prstGeom prst="rect">
            <a:avLst/>
          </a:prstGeom>
          <a:solidFill>
            <a:srgbClr val="2D5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19456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22833"/>
                </a:solidFill>
                <a:latin typeface="Meiryo"/>
              </a:rPr>
              <a:t>3b: EDA ― わかったこと → モデルへの反映</a:t>
            </a:r>
          </a:p>
        </p:txBody>
      </p:sp>
      <p:pic>
        <p:nvPicPr>
          <p:cNvPr id="4" name="Picture 3" descr="tokyo_histo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868680"/>
            <a:ext cx="4754880" cy="26517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40680" y="914400"/>
            <a:ext cx="6172200" cy="868680"/>
          </a:xfrm>
          <a:prstGeom prst="roundRect">
            <a:avLst>
              <a:gd name="adj" fmla="val 8000"/>
            </a:avLst>
          </a:prstGeom>
          <a:solidFill>
            <a:srgbClr val="E8EEFD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0" y="1133856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22833"/>
                </a:solidFill>
                <a:latin typeface="Meiryo"/>
              </a:rPr>
              <a:t>ほとんどのエリアは店舗数1〜2軒。一部だけ100軒超。対数変換で公平に比較。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749039"/>
            <a:ext cx="5394960" cy="2377440"/>
          </a:xfrm>
          <a:prstGeom prst="roundRect">
            <a:avLst>
              <a:gd name="adj" fmla="val 8000"/>
            </a:avLst>
          </a:prstGeom>
          <a:solidFill>
            <a:srgbClr val="E8EEFD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3950208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D5BE3"/>
                </a:solidFill>
                <a:latin typeface="Meiryo"/>
              </a:rPr>
              <a:t>気づき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4297680"/>
            <a:ext cx="48006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400">
                <a:solidFill>
                  <a:srgbClr val="2D5BE3"/>
                </a:solidFill>
                <a:latin typeface="Meiryo"/>
              </a:rPr>
              <a:t>• </a:t>
            </a:r>
            <a:r>
              <a:rPr sz="1400">
                <a:solidFill>
                  <a:srgbClr val="222833"/>
                </a:solidFill>
                <a:latin typeface="Meiryo"/>
              </a:rPr>
              <a:t>ほとんどのエリアは店舗1〜2軒、一部だけ100軒超 → データが偏っている</a:t>
            </a:r>
          </a:p>
          <a:p>
            <a:pPr>
              <a:spcAft>
                <a:spcPts val="500"/>
              </a:spcAft>
            </a:pPr>
            <a:r>
              <a:rPr sz="1400">
                <a:solidFill>
                  <a:srgbClr val="2D5BE3"/>
                </a:solidFill>
                <a:latin typeface="Meiryo"/>
              </a:rPr>
              <a:t>• </a:t>
            </a:r>
            <a:r>
              <a:rPr sz="1400">
                <a:solidFill>
                  <a:srgbClr val="222833"/>
                </a:solidFill>
                <a:latin typeface="Meiryo"/>
              </a:rPr>
              <a:t>「他ジャンルの店が多いエリア」ほど飲食店が多い → 商業集積が鍵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3749039"/>
            <a:ext cx="5577840" cy="2377440"/>
          </a:xfrm>
          <a:prstGeom prst="roundRect">
            <a:avLst>
              <a:gd name="adj" fmla="val 8000"/>
            </a:avLst>
          </a:prstGeom>
          <a:solidFill>
            <a:srgbClr val="F0F2F5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81928" y="3950208"/>
            <a:ext cx="1828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F9D58"/>
                </a:solidFill>
                <a:latin typeface="Meiryo"/>
              </a:rPr>
              <a:t>だからこうした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81928" y="4297680"/>
            <a:ext cx="498348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400">
                <a:solidFill>
                  <a:srgbClr val="0F9D58"/>
                </a:solidFill>
                <a:latin typeface="Meiryo"/>
              </a:rPr>
              <a:t>• </a:t>
            </a:r>
            <a:r>
              <a:rPr sz="1400">
                <a:solidFill>
                  <a:srgbClr val="222833"/>
                </a:solidFill>
                <a:latin typeface="Meiryo"/>
              </a:rPr>
              <a:t>偏ったデータ → 対数変換（log）で公平に比較</a:t>
            </a:r>
          </a:p>
          <a:p>
            <a:pPr>
              <a:spcAft>
                <a:spcPts val="500"/>
              </a:spcAft>
            </a:pPr>
            <a:r>
              <a:rPr sz="1400">
                <a:solidFill>
                  <a:srgbClr val="0F9D58"/>
                </a:solidFill>
                <a:latin typeface="Meiryo"/>
              </a:rPr>
              <a:t>• </a:t>
            </a:r>
            <a:r>
              <a:rPr sz="1400">
                <a:solidFill>
                  <a:srgbClr val="222833"/>
                </a:solidFill>
                <a:latin typeface="Meiryo"/>
              </a:rPr>
              <a:t>人口データの10.1%が欠損 → ゼロ埋めしてMLモデルに含む（除外しても精度差なし）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47472"/>
            <a:ext cx="109728" cy="475488"/>
          </a:xfrm>
          <a:prstGeom prst="rect">
            <a:avLst/>
          </a:prstGeom>
          <a:solidFill>
            <a:srgbClr val="2D5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19456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22833"/>
                </a:solidFill>
                <a:latin typeface="Meiryo"/>
              </a:rPr>
              <a:t>4: アプローチ ― MLで市場ギャップを予測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914400"/>
            <a:ext cx="11155680" cy="1463040"/>
          </a:xfrm>
          <a:prstGeom prst="roundRect">
            <a:avLst>
              <a:gd name="adj" fmla="val 8000"/>
            </a:avLst>
          </a:prstGeom>
          <a:solidFill>
            <a:srgbClr val="E8EEFD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078992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D5BE3"/>
                </a:solidFill>
                <a:latin typeface="Meiryo"/>
              </a:rPr>
              <a:t>目的変数（何を予測するか）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4173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500">
                <a:solidFill>
                  <a:srgbClr val="2D5BE3"/>
                </a:solidFill>
                <a:latin typeface="Meiryo"/>
              </a:rPr>
              <a:t>• </a:t>
            </a:r>
            <a:r>
              <a:rPr sz="1500">
                <a:solidFill>
                  <a:srgbClr val="222833"/>
                </a:solidFill>
                <a:latin typeface="Meiryo"/>
              </a:rPr>
              <a:t>log1p(restaurant_count) ＝ 各メッシュ×ジャンルの飲食店数を対数変換した値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2D5BE3"/>
                </a:solidFill>
                <a:latin typeface="Meiryo"/>
              </a:rPr>
              <a:t>• </a:t>
            </a:r>
            <a:r>
              <a:rPr sz="1500">
                <a:solidFill>
                  <a:srgbClr val="222833"/>
                </a:solidFill>
                <a:latin typeface="Meiryo"/>
              </a:rPr>
              <a:t>対数変換する理由: 店舗数は0〜100超まで偏りが大きく、そのままでは少数の密集エリアに引きずられるため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606040"/>
            <a:ext cx="5440680" cy="2103120"/>
          </a:xfrm>
          <a:prstGeom prst="roundRect">
            <a:avLst>
              <a:gd name="adj" fmla="val 8000"/>
            </a:avLst>
          </a:prstGeom>
          <a:solidFill>
            <a:srgbClr val="F0F2F5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788920"/>
            <a:ext cx="3108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F9D58"/>
                </a:solidFill>
                <a:latin typeface="Meiryo"/>
              </a:rPr>
              <a:t>説明変数（28特徴量）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154680"/>
            <a:ext cx="4800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500">
                <a:solidFill>
                  <a:srgbClr val="0F9D58"/>
                </a:solidFill>
                <a:latin typeface="Meiryo"/>
              </a:rPr>
              <a:t>• </a:t>
            </a:r>
            <a:r>
              <a:rPr sz="1500">
                <a:solidFill>
                  <a:srgbClr val="222833"/>
                </a:solidFill>
                <a:latin typeface="Meiryo"/>
              </a:rPr>
              <a:t>人口・世帯構成（11）、競合環境（4）、駅アクセス（3）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0F9D58"/>
                </a:solidFill>
                <a:latin typeface="Meiryo"/>
              </a:rPr>
              <a:t>• </a:t>
            </a:r>
            <a:r>
              <a:rPr sz="1500">
                <a:solidFill>
                  <a:srgbClr val="222833"/>
                </a:solidFill>
                <a:latin typeface="Meiryo"/>
              </a:rPr>
              <a:t>地価・Google評価（4）、ジャンル関連（4）、交互作用（2）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2606040"/>
            <a:ext cx="5440680" cy="2103120"/>
          </a:xfrm>
          <a:prstGeom prst="roundRect">
            <a:avLst>
              <a:gd name="adj" fmla="val 8000"/>
            </a:avLst>
          </a:prstGeom>
          <a:solidFill>
            <a:srgbClr val="E8EEFD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2788920"/>
            <a:ext cx="2926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D5BE3"/>
                </a:solidFill>
                <a:latin typeface="Meiryo"/>
              </a:rPr>
              <a:t>市場ギャップの算出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3154680"/>
            <a:ext cx="4800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500">
                <a:solidFill>
                  <a:srgbClr val="2D5BE3"/>
                </a:solidFill>
                <a:latin typeface="Meiryo"/>
              </a:rPr>
              <a:t>• </a:t>
            </a:r>
            <a:r>
              <a:rPr sz="1500">
                <a:solidFill>
                  <a:srgbClr val="222833"/>
                </a:solidFill>
                <a:latin typeface="Meiryo"/>
              </a:rPr>
              <a:t>LightGBMで「本来何軒あるべきか」を予測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2D5BE3"/>
                </a:solidFill>
                <a:latin typeface="Meiryo"/>
              </a:rPr>
              <a:t>• </a:t>
            </a:r>
            <a:r>
              <a:rPr sz="1500">
                <a:solidFill>
                  <a:srgbClr val="222833"/>
                </a:solidFill>
                <a:latin typeface="Meiryo"/>
              </a:rPr>
              <a:t>予測値 − 実測値 = 市場ギャップ（大きい＝出店チャンス）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777240" y="4983480"/>
          <a:ext cx="10515600" cy="132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3474720"/>
                <a:gridCol w="2926080"/>
                <a:gridCol w="3017520"/>
              </a:tblGrid>
              <a:tr h="441960"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2D5B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</a:rPr>
                        <a:t>ML予測のみ（デフォルト）</a:t>
                      </a:r>
                    </a:p>
                  </a:txBody>
                  <a:tcPr anchor="ctr">
                    <a:solidFill>
                      <a:srgbClr val="2D5B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</a:rPr>
                        <a:t>ルールベース</a:t>
                      </a:r>
                    </a:p>
                  </a:txBody>
                  <a:tcPr anchor="ctr">
                    <a:solidFill>
                      <a:srgbClr val="2D5B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</a:rPr>
                        <a:t>両方の組み合わせ</a:t>
                      </a:r>
                    </a:p>
                  </a:txBody>
                  <a:tcPr anchor="ctr">
                    <a:solidFill>
                      <a:srgbClr val="2D5BE3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方式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ML予測ギャップをrank正規化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6要素の重み付け合算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ルール×0.6 + ML×0.4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特徴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精度が高い・シンプル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解釈しやすい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両方の長所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47472"/>
            <a:ext cx="109728" cy="475488"/>
          </a:xfrm>
          <a:prstGeom prst="rect">
            <a:avLst/>
          </a:prstGeom>
          <a:solidFill>
            <a:srgbClr val="2D5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19456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22833"/>
                </a:solidFill>
                <a:latin typeface="Meiryo"/>
              </a:rPr>
              <a:t>5: モデルに入れたデータ（説明変数）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686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22833"/>
                </a:solidFill>
                <a:latin typeface="Meiryo"/>
              </a:rPr>
              <a:t>特徴量 = 「予測のヒントになるデータ」。人間が出店判断で見る情報を数値化したもの。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371600"/>
          <a:ext cx="10058400" cy="429767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822960"/>
                <a:gridCol w="3657600"/>
                <a:gridCol w="1920240"/>
                <a:gridCol w="1828800"/>
              </a:tblGrid>
              <a:tr h="61395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</a:rPr>
                        <a:t>カテゴリ</a:t>
                      </a:r>
                    </a:p>
                  </a:txBody>
                  <a:tcPr anchor="ctr">
                    <a:solidFill>
                      <a:srgbClr val="2D5B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</a:rPr>
                        <a:t>個数</a:t>
                      </a:r>
                    </a:p>
                  </a:txBody>
                  <a:tcPr anchor="ctr">
                    <a:solidFill>
                      <a:srgbClr val="2D5B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</a:rPr>
                        <a:t>具体例</a:t>
                      </a:r>
                    </a:p>
                  </a:txBody>
                  <a:tcPr anchor="ctr">
                    <a:solidFill>
                      <a:srgbClr val="2D5B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</a:rPr>
                        <a:t>何を表すか</a:t>
                      </a:r>
                    </a:p>
                  </a:txBody>
                  <a:tcPr anchor="ctr">
                    <a:solidFill>
                      <a:srgbClr val="2D5B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</a:rPr>
                        <a:t>スコア計算</a:t>
                      </a:r>
                    </a:p>
                  </a:txBody>
                  <a:tcPr anchor="ctr">
                    <a:solidFill>
                      <a:srgbClr val="2D5BE3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人口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7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総人口、働く世代、高齢者、単身世帯…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お客さんの数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★人口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人口比率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労働人口率、高齢者率、単身率…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街の住民構成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競合環境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4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他ジャンル店舗数、飽和度、近隣平均…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ライバルの多さ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★4個全て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駅アクセス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最寄駅距離、乗降客数、アクセス指数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人の流れ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地価・評価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4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地価、Google評価、レビュー数…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エリアの格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★Google評価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ジャンル関連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ジャンル種別、多様性、集中度…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飲食バリエーション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★集中度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94360" y="589788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66F7A"/>
                </a:solidFill>
                <a:latin typeface="Meiryo"/>
              </a:rPr>
              <a:t>補足: MLは28特徴量を使用（人口系含む）。人口欠損10.1%はゼロ埋め。Optuna 100 trialでチューニング済み。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47472"/>
            <a:ext cx="109728" cy="475488"/>
          </a:xfrm>
          <a:prstGeom prst="rect">
            <a:avLst/>
          </a:prstGeom>
          <a:solidFill>
            <a:srgbClr val="2D5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19456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22833"/>
                </a:solidFill>
                <a:latin typeface="Meiryo"/>
              </a:rPr>
              <a:t>6: モデルの精度 ― 5-Fold クロスバリデーション</a:t>
            </a:r>
          </a:p>
        </p:txBody>
      </p:sp>
      <p:pic>
        <p:nvPicPr>
          <p:cNvPr id="4" name="Picture 3" descr="tokyo_scatter_actual_vs_p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868680"/>
            <a:ext cx="5029200" cy="41148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760720" y="868680"/>
            <a:ext cx="5852160" cy="2011680"/>
          </a:xfrm>
          <a:prstGeom prst="roundRect">
            <a:avLst>
              <a:gd name="adj" fmla="val 8000"/>
            </a:avLst>
          </a:prstGeom>
          <a:solidFill>
            <a:srgbClr val="E8EEFD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89320" y="1005840"/>
            <a:ext cx="53035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D5BE3"/>
                </a:solidFill>
                <a:latin typeface="Meiryo"/>
              </a:rPr>
              <a:t>なぜこの検証方法？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89320" y="1325880"/>
            <a:ext cx="53949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300">
                <a:solidFill>
                  <a:srgbClr val="2D5BE3"/>
                </a:solidFill>
                <a:latin typeface="Meiryo"/>
              </a:rPr>
              <a:t>• </a:t>
            </a:r>
            <a:r>
              <a:rPr sz="1300">
                <a:solidFill>
                  <a:srgbClr val="222833"/>
                </a:solidFill>
                <a:latin typeface="Meiryo"/>
              </a:rPr>
              <a:t>本来は新しい時点のデータで精度を測るのが理想だが、時系列データが取れない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2D5BE3"/>
                </a:solidFill>
                <a:latin typeface="Meiryo"/>
              </a:rPr>
              <a:t>• </a:t>
            </a:r>
            <a:r>
              <a:rPr sz="1300">
                <a:solidFill>
                  <a:srgbClr val="222833"/>
                </a:solidFill>
                <a:latin typeface="Meiryo"/>
              </a:rPr>
              <a:t>学習データで評価するとリーケージ（情報漏れ）になるため、店舗数の分布が均等になるよう層化分割して汎化性能を測る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60720" y="3063240"/>
            <a:ext cx="5852160" cy="1645920"/>
          </a:xfrm>
          <a:prstGeom prst="roundRect">
            <a:avLst>
              <a:gd name="adj" fmla="val 8000"/>
            </a:avLst>
          </a:prstGeom>
          <a:solidFill>
            <a:srgbClr val="F0F2F5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89320" y="3200400"/>
            <a:ext cx="53035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F9D58"/>
                </a:solidFill>
                <a:latin typeface="Meiryo"/>
              </a:rPr>
              <a:t>具体的な方法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89320" y="3520440"/>
            <a:ext cx="53949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300">
                <a:solidFill>
                  <a:srgbClr val="0F9D58"/>
                </a:solidFill>
                <a:latin typeface="Meiryo"/>
              </a:rPr>
              <a:t>• </a:t>
            </a:r>
            <a:r>
              <a:rPr sz="1300">
                <a:solidFill>
                  <a:srgbClr val="222833"/>
                </a:solidFill>
                <a:latin typeface="Meiryo"/>
              </a:rPr>
              <a:t>東京の4,520行を店舗数の偏りが出ないよう5グループに層化分割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0F9D58"/>
                </a:solidFill>
                <a:latin typeface="Meiryo"/>
              </a:rPr>
              <a:t>• </a:t>
            </a:r>
            <a:r>
              <a:rPr sz="1300">
                <a:solidFill>
                  <a:srgbClr val="222833"/>
                </a:solidFill>
                <a:latin typeface="Meiryo"/>
              </a:rPr>
              <a:t>StratifiedKFoldで店舗数ビンが均等になるよう分割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0F9D58"/>
                </a:solidFill>
                <a:latin typeface="Meiryo"/>
              </a:rPr>
              <a:t>• </a:t>
            </a:r>
            <a:r>
              <a:rPr sz="1300">
                <a:solidFill>
                  <a:srgbClr val="222833"/>
                </a:solidFill>
                <a:latin typeface="Meiryo"/>
              </a:rPr>
              <a:t>4グループで学習→残り1グループで予測、を5回繰り返す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760720" y="4892040"/>
            <a:ext cx="5852160" cy="1371600"/>
          </a:xfrm>
          <a:prstGeom prst="roundRect">
            <a:avLst>
              <a:gd name="adj" fmla="val 8000"/>
            </a:avLst>
          </a:prstGeom>
          <a:solidFill>
            <a:srgbClr val="E8EEFD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89320" y="5029200"/>
            <a:ext cx="53035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D5BE3"/>
                </a:solidFill>
                <a:latin typeface="Meiryo"/>
              </a:rPr>
              <a:t>結果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89320" y="5349240"/>
            <a:ext cx="53949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300">
                <a:solidFill>
                  <a:srgbClr val="2D5BE3"/>
                </a:solidFill>
                <a:latin typeface="Meiryo"/>
              </a:rPr>
              <a:t>• </a:t>
            </a:r>
            <a:r>
              <a:rPr sz="1300">
                <a:solidFill>
                  <a:srgbClr val="222833"/>
                </a:solidFill>
                <a:latin typeface="Meiryo"/>
              </a:rPr>
              <a:t>RMSE = 5.0店（実店舗数スケール）＝ 平均で約5店の誤差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2D5BE3"/>
                </a:solidFill>
                <a:latin typeface="Meiryo"/>
              </a:rPr>
              <a:t>• </a:t>
            </a:r>
            <a:r>
              <a:rPr sz="1300">
                <a:solidFill>
                  <a:srgbClr val="222833"/>
                </a:solidFill>
                <a:latin typeface="Meiryo"/>
              </a:rPr>
              <a:t>中央値2店・平均4店のデータに対し、MAE = 1.6店（平均絶対誤差）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47472"/>
            <a:ext cx="109728" cy="475488"/>
          </a:xfrm>
          <a:prstGeom prst="rect">
            <a:avLst/>
          </a:prstGeom>
          <a:solidFill>
            <a:srgbClr val="2D5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19456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22833"/>
                </a:solidFill>
                <a:latin typeface="Meiryo"/>
              </a:rPr>
              <a:t>7: 何が予測に効いているか（SHAP）</a:t>
            </a:r>
          </a:p>
        </p:txBody>
      </p:sp>
      <p:pic>
        <p:nvPicPr>
          <p:cNvPr id="4" name="Picture 3" descr="shap_importance_top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914400"/>
            <a:ext cx="6492240" cy="521208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315200" y="914400"/>
            <a:ext cx="4297680" cy="5212080"/>
          </a:xfrm>
          <a:prstGeom prst="roundRect">
            <a:avLst>
              <a:gd name="adj" fmla="val 8000"/>
            </a:avLst>
          </a:prstGeom>
          <a:solidFill>
            <a:srgbClr val="F0F2F5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543800" y="1170432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DB4437"/>
                </a:solidFill>
                <a:latin typeface="Meiryo"/>
              </a:rPr>
              <a:t>解釈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43800" y="1600200"/>
            <a:ext cx="3749039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500">
                <a:solidFill>
                  <a:srgbClr val="DB4437"/>
                </a:solidFill>
                <a:latin typeface="Meiryo"/>
              </a:rPr>
              <a:t>• </a:t>
            </a:r>
            <a:r>
              <a:rPr sz="1500">
                <a:solidFill>
                  <a:srgbClr val="222833"/>
                </a:solidFill>
                <a:latin typeface="Meiryo"/>
              </a:rPr>
              <a:t>ジャンル種別（SHAP=0.196）と他ジャンル店舗数（0.109）が上位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DB4437"/>
                </a:solidFill>
                <a:latin typeface="Meiryo"/>
              </a:rPr>
              <a:t>• </a:t>
            </a:r>
            <a:r>
              <a:rPr sz="1500">
                <a:solidFill>
                  <a:srgbClr val="222833"/>
                </a:solidFill>
                <a:latin typeface="Meiryo"/>
              </a:rPr>
              <a:t>人口系特徴量は含めているが重要度は低い（下位に位置）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DB4437"/>
                </a:solidFill>
                <a:latin typeface="Meiryo"/>
              </a:rPr>
              <a:t>• </a:t>
            </a:r>
            <a:r>
              <a:rPr sz="1500">
                <a:solidFill>
                  <a:srgbClr val="222833"/>
                </a:solidFill>
                <a:latin typeface="Meiryo"/>
              </a:rPr>
              <a:t>→ 「人口が多い」より「商業集積がある」方が飲食店数を決める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47472"/>
            <a:ext cx="109728" cy="475488"/>
          </a:xfrm>
          <a:prstGeom prst="rect">
            <a:avLst/>
          </a:prstGeom>
          <a:solidFill>
            <a:srgbClr val="2D5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19456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22833"/>
                </a:solidFill>
                <a:latin typeface="Meiryo"/>
              </a:rPr>
              <a:t>8: 課題点とうまくいった点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914400"/>
            <a:ext cx="5349240" cy="5303520"/>
          </a:xfrm>
          <a:prstGeom prst="roundRect">
            <a:avLst>
              <a:gd name="adj" fmla="val 8000"/>
            </a:avLst>
          </a:prstGeom>
          <a:solidFill>
            <a:srgbClr val="E8EEFD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96112" y="1143000"/>
            <a:ext cx="25603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F9D58"/>
                </a:solidFill>
                <a:latin typeface="Meiryo"/>
              </a:rPr>
              <a:t>うまくいった点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6112" y="1554480"/>
            <a:ext cx="4754880" cy="4297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600">
                <a:solidFill>
                  <a:srgbClr val="0F9D58"/>
                </a:solidFill>
                <a:latin typeface="Meiryo"/>
              </a:rPr>
              <a:t>• </a:t>
            </a:r>
            <a:r>
              <a:rPr sz="1600">
                <a:solidFill>
                  <a:srgbClr val="222833"/>
                </a:solidFill>
                <a:latin typeface="Meiryo"/>
              </a:rPr>
              <a:t>RMSE = 5.0店: 実店舗数スケールで平均約5店の誤差</a:t>
            </a:r>
          </a:p>
          <a:p>
            <a:pPr>
              <a:spcAft>
                <a:spcPts val="500"/>
              </a:spcAft>
            </a:pPr>
            <a:r>
              <a:rPr sz="1600">
                <a:solidFill>
                  <a:srgbClr val="0F9D58"/>
                </a:solidFill>
                <a:latin typeface="Meiryo"/>
              </a:rPr>
              <a:t>• </a:t>
            </a:r>
            <a:r>
              <a:rPr sz="1600">
                <a:solidFill>
                  <a:srgbClr val="222833"/>
                </a:solidFill>
                <a:latin typeface="Meiryo"/>
              </a:rPr>
              <a:t>28特徴量（人口含む）でOptuna 100 trialチューニング</a:t>
            </a:r>
          </a:p>
          <a:p>
            <a:pPr>
              <a:spcAft>
                <a:spcPts val="500"/>
              </a:spcAft>
            </a:pPr>
            <a:r>
              <a:rPr sz="1600">
                <a:solidFill>
                  <a:srgbClr val="0F9D58"/>
                </a:solidFill>
                <a:latin typeface="Meiryo"/>
              </a:rPr>
              <a:t>• </a:t>
            </a:r>
            <a:r>
              <a:rPr sz="1600">
                <a:solidFill>
                  <a:srgbClr val="222833"/>
                </a:solidFill>
                <a:latin typeface="Meiryo"/>
              </a:rPr>
              <a:t>ML予測のみでシンプルかつ高精度なスコアリング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914400"/>
            <a:ext cx="5349240" cy="5303520"/>
          </a:xfrm>
          <a:prstGeom prst="roundRect">
            <a:avLst>
              <a:gd name="adj" fmla="val 8000"/>
            </a:avLst>
          </a:prstGeom>
          <a:solidFill>
            <a:srgbClr val="F0F2F5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28232" y="1143000"/>
            <a:ext cx="25603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DB4437"/>
                </a:solidFill>
                <a:latin typeface="Meiryo"/>
              </a:rPr>
              <a:t>課題点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28232" y="1554480"/>
            <a:ext cx="4709160" cy="4297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600">
                <a:solidFill>
                  <a:srgbClr val="DB4437"/>
                </a:solidFill>
                <a:latin typeface="Meiryo"/>
              </a:rPr>
              <a:t>• </a:t>
            </a:r>
            <a:r>
              <a:rPr sz="1600">
                <a:solidFill>
                  <a:srgbClr val="222833"/>
                </a:solidFill>
                <a:latin typeface="Meiryo"/>
              </a:rPr>
              <a:t>約半数のエリアが店舗数1軒（データの偏り）</a:t>
            </a:r>
          </a:p>
          <a:p>
            <a:pPr>
              <a:spcAft>
                <a:spcPts val="500"/>
              </a:spcAft>
            </a:pPr>
            <a:r>
              <a:rPr sz="1600">
                <a:solidFill>
                  <a:srgbClr val="DB4437"/>
                </a:solidFill>
                <a:latin typeface="Meiryo"/>
              </a:rPr>
              <a:t>• </a:t>
            </a:r>
            <a:r>
              <a:rPr sz="1600">
                <a:solidFill>
                  <a:srgbClr val="222833"/>
                </a:solidFill>
                <a:latin typeface="Meiryo"/>
              </a:rPr>
              <a:t>バックテスト未実施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47472"/>
            <a:ext cx="109728" cy="475488"/>
          </a:xfrm>
          <a:prstGeom prst="rect">
            <a:avLst/>
          </a:prstGeom>
          <a:solidFill>
            <a:srgbClr val="2D5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19456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22833"/>
                </a:solidFill>
                <a:latin typeface="Meiryo"/>
              </a:rPr>
              <a:t>9: ビジネスインパクト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868680"/>
            <a:ext cx="10972800" cy="868680"/>
          </a:xfrm>
          <a:prstGeom prst="roundRect">
            <a:avLst>
              <a:gd name="adj" fmla="val 8000"/>
            </a:avLst>
          </a:prstGeom>
          <a:solidFill>
            <a:srgbClr val="E8EEFD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124712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222833"/>
                </a:solidFill>
                <a:latin typeface="Meiryo"/>
              </a:rPr>
              <a:t>「どの街に、どのジャンルの店が足りないか」を自動で見つけて、根拠付きで推薦する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965960"/>
            <a:ext cx="5349240" cy="4114800"/>
          </a:xfrm>
          <a:prstGeom prst="roundRect">
            <a:avLst>
              <a:gd name="adj" fmla="val 8000"/>
            </a:avLst>
          </a:prstGeom>
          <a:solidFill>
            <a:srgbClr val="E8EEFD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2176272"/>
            <a:ext cx="32004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D5BE3"/>
                </a:solidFill>
                <a:latin typeface="Meiryo"/>
              </a:rPr>
              <a:t>新規エリア進出の判断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542032"/>
            <a:ext cx="475488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500">
                <a:solidFill>
                  <a:srgbClr val="2D5BE3"/>
                </a:solidFill>
                <a:latin typeface="Meiryo"/>
              </a:rPr>
              <a:t>• </a:t>
            </a:r>
            <a:r>
              <a:rPr sz="1500">
                <a:solidFill>
                  <a:srgbClr val="222833"/>
                </a:solidFill>
                <a:latin typeface="Meiryo"/>
              </a:rPr>
              <a:t>東京都内の未出店エリアを、既存データだけで事前評価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2D5BE3"/>
                </a:solidFill>
                <a:latin typeface="Meiryo"/>
              </a:rPr>
              <a:t>• </a:t>
            </a:r>
            <a:r>
              <a:rPr sz="1500">
                <a:solidFill>
                  <a:srgbClr val="222833"/>
                </a:solidFill>
                <a:latin typeface="Meiryo"/>
              </a:rPr>
              <a:t>東京1,233メッシュ × 8ジャンル = 約9,800パターンの候補を一括で洗い出し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965960"/>
            <a:ext cx="5349240" cy="4114800"/>
          </a:xfrm>
          <a:prstGeom prst="roundRect">
            <a:avLst>
              <a:gd name="adj" fmla="val 8000"/>
            </a:avLst>
          </a:prstGeom>
          <a:solidFill>
            <a:srgbClr val="F0F2F5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19088" y="2176272"/>
            <a:ext cx="32004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F9D58"/>
                </a:solidFill>
                <a:latin typeface="Meiryo"/>
              </a:rPr>
              <a:t>ジャンル戦略の意思決定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19088" y="2542032"/>
            <a:ext cx="475488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500">
                <a:solidFill>
                  <a:srgbClr val="0F9D58"/>
                </a:solidFill>
                <a:latin typeface="Meiryo"/>
              </a:rPr>
              <a:t>• </a:t>
            </a:r>
            <a:r>
              <a:rPr sz="1500">
                <a:solidFill>
                  <a:srgbClr val="222833"/>
                </a:solidFill>
                <a:latin typeface="Meiryo"/>
              </a:rPr>
              <a:t>「このエリアには焼肉よりカフェの方がチャンスがある」をデータで裏付け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0F9D58"/>
                </a:solidFill>
                <a:latin typeface="Meiryo"/>
              </a:rPr>
              <a:t>• </a:t>
            </a:r>
            <a:r>
              <a:rPr sz="1500">
                <a:solidFill>
                  <a:srgbClr val="222833"/>
                </a:solidFill>
                <a:latin typeface="Meiryo"/>
              </a:rPr>
              <a:t>ジャンルごとの市場ギャップを比較し、参入優先度を決定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0F9D58"/>
                </a:solidFill>
                <a:latin typeface="Meiryo"/>
              </a:rPr>
              <a:t>• </a:t>
            </a:r>
            <a:r>
              <a:rPr sz="1500">
                <a:solidFill>
                  <a:srgbClr val="222833"/>
                </a:solidFill>
                <a:latin typeface="Meiryo"/>
              </a:rPr>
              <a:t>250mメッシュ粒度で「この通りの向こう側」レベルの精度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47472"/>
            <a:ext cx="109728" cy="475488"/>
          </a:xfrm>
          <a:prstGeom prst="rect">
            <a:avLst/>
          </a:prstGeom>
          <a:solidFill>
            <a:srgbClr val="2D5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19456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22833"/>
                </a:solidFill>
                <a:latin typeface="Meiryo"/>
              </a:rPr>
              <a:t>10: Vibe Codingの所感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868680"/>
            <a:ext cx="10972800" cy="1051560"/>
          </a:xfrm>
          <a:prstGeom prst="roundRect">
            <a:avLst>
              <a:gd name="adj" fmla="val 8000"/>
            </a:avLst>
          </a:prstGeom>
          <a:solidFill>
            <a:srgbClr val="E8EEFD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" y="1078992"/>
            <a:ext cx="1042416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22833"/>
                </a:solidFill>
                <a:latin typeface="Meiryo"/>
              </a:rPr>
              <a:t>自分の知識だけではここまでのモデルは作れなかった。AIが知識を補完してくれたからこそ、作りたいシステムを形にできた。ただしAIの提案を鵜呑みにしない判断力が不可欠。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240280"/>
            <a:ext cx="5394960" cy="3474720"/>
          </a:xfrm>
          <a:prstGeom prst="roundRect">
            <a:avLst>
              <a:gd name="adj" fmla="val 8000"/>
            </a:avLst>
          </a:prstGeom>
          <a:solidFill>
            <a:srgbClr val="E8EEFD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450592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F9D58"/>
                </a:solidFill>
                <a:latin typeface="Meiryo"/>
              </a:rPr>
              <a:t>AIに助けられた点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816352"/>
            <a:ext cx="4754880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600">
                <a:solidFill>
                  <a:srgbClr val="0F9D58"/>
                </a:solidFill>
                <a:latin typeface="Meiryo"/>
              </a:rPr>
              <a:t>• </a:t>
            </a:r>
            <a:r>
              <a:rPr sz="1600">
                <a:solidFill>
                  <a:srgbClr val="222833"/>
                </a:solidFill>
                <a:latin typeface="Meiryo"/>
              </a:rPr>
              <a:t>6種API + 28特徴量ML + 5エリア対応ダッシュボードを一人で構築</a:t>
            </a:r>
          </a:p>
          <a:p>
            <a:pPr>
              <a:spcAft>
                <a:spcPts val="500"/>
              </a:spcAft>
            </a:pPr>
            <a:r>
              <a:rPr sz="1600">
                <a:solidFill>
                  <a:srgbClr val="0F9D58"/>
                </a:solidFill>
                <a:latin typeface="Meiryo"/>
              </a:rPr>
              <a:t>• </a:t>
            </a:r>
            <a:r>
              <a:rPr sz="1600">
                <a:solidFill>
                  <a:srgbClr val="222833"/>
                </a:solidFill>
                <a:latin typeface="Meiryo"/>
              </a:rPr>
              <a:t>知らなかった手法をAIが提案→知識の補完</a:t>
            </a:r>
          </a:p>
          <a:p>
            <a:pPr>
              <a:spcAft>
                <a:spcPts val="500"/>
              </a:spcAft>
            </a:pPr>
            <a:r>
              <a:rPr sz="1600">
                <a:solidFill>
                  <a:srgbClr val="0F9D58"/>
                </a:solidFill>
                <a:latin typeface="Meiryo"/>
              </a:rPr>
              <a:t>• </a:t>
            </a:r>
            <a:r>
              <a:rPr sz="1600">
                <a:solidFill>
                  <a:srgbClr val="222833"/>
                </a:solidFill>
                <a:latin typeface="Meiryo"/>
              </a:rPr>
              <a:t>設計→実装→テストのサイクルが速く回せた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2240280"/>
            <a:ext cx="5394960" cy="3474720"/>
          </a:xfrm>
          <a:prstGeom prst="roundRect">
            <a:avLst>
              <a:gd name="adj" fmla="val 8000"/>
            </a:avLst>
          </a:prstGeom>
          <a:solidFill>
            <a:srgbClr val="F0F2F5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2450592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DB4437"/>
                </a:solidFill>
                <a:latin typeface="Meiryo"/>
              </a:rPr>
              <a:t>人間が判断すべきだった点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2816352"/>
            <a:ext cx="4709160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600">
                <a:solidFill>
                  <a:srgbClr val="DB4437"/>
                </a:solidFill>
                <a:latin typeface="Meiryo"/>
              </a:rPr>
              <a:t>• </a:t>
            </a:r>
            <a:r>
              <a:rPr sz="1600">
                <a:solidFill>
                  <a:srgbClr val="222833"/>
                </a:solidFill>
                <a:latin typeface="Meiryo"/>
              </a:rPr>
              <a:t>AIが勝手に仕様変更を進めることがある</a:t>
            </a:r>
          </a:p>
          <a:p>
            <a:pPr>
              <a:spcAft>
                <a:spcPts val="500"/>
              </a:spcAft>
            </a:pPr>
            <a:r>
              <a:rPr sz="1600">
                <a:solidFill>
                  <a:srgbClr val="DB4437"/>
                </a:solidFill>
                <a:latin typeface="Meiryo"/>
              </a:rPr>
              <a:t>• </a:t>
            </a:r>
            <a:r>
              <a:rPr sz="1600">
                <a:solidFill>
                  <a:srgbClr val="222833"/>
                </a:solidFill>
                <a:latin typeface="Meiryo"/>
              </a:rPr>
              <a:t>R²やCIの解釈はドメイン知識が必要</a:t>
            </a:r>
          </a:p>
          <a:p>
            <a:pPr>
              <a:spcAft>
                <a:spcPts val="500"/>
              </a:spcAft>
            </a:pPr>
            <a:r>
              <a:rPr sz="1600">
                <a:solidFill>
                  <a:srgbClr val="DB4437"/>
                </a:solidFill>
                <a:latin typeface="Meiryo"/>
              </a:rPr>
              <a:t>• </a:t>
            </a:r>
            <a:r>
              <a:rPr sz="1600">
                <a:solidFill>
                  <a:srgbClr val="222833"/>
                </a:solidFill>
                <a:latin typeface="Meiryo"/>
              </a:rPr>
              <a:t>長い会話で過去の決定を忘れる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47472"/>
            <a:ext cx="109728" cy="475488"/>
          </a:xfrm>
          <a:prstGeom prst="rect">
            <a:avLst/>
          </a:prstGeom>
          <a:solidFill>
            <a:srgbClr val="2D5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19456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22833"/>
                </a:solidFill>
                <a:latin typeface="Meiryo"/>
              </a:rPr>
              <a:t>11: まとめ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051560"/>
          <a:ext cx="10789920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8961120"/>
              </a:tblGrid>
              <a:tr h="56007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eiryo"/>
                        </a:rPr>
                        <a:t>項目</a:t>
                      </a:r>
                    </a:p>
                  </a:txBody>
                  <a:tcPr anchor="ctr">
                    <a:solidFill>
                      <a:srgbClr val="2D5B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eiryo"/>
                        </a:rPr>
                        <a:t>内容</a:t>
                      </a:r>
                    </a:p>
                  </a:txBody>
                  <a:tcPr anchor="ctr">
                    <a:solidFill>
                      <a:srgbClr val="2D5BE3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833"/>
                          </a:solidFill>
                          <a:latin typeface="Meiryo"/>
                        </a:rPr>
                        <a:t>課題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833"/>
                          </a:solidFill>
                          <a:latin typeface="Meiryo"/>
                        </a:rPr>
                        <a:t>出店判断の基準をデータで統一・定量化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833"/>
                          </a:solidFill>
                          <a:latin typeface="Meiryo"/>
                        </a:rPr>
                        <a:t>データ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833"/>
                          </a:solidFill>
                          <a:latin typeface="Meiryo"/>
                        </a:rPr>
                        <a:t>6種の公開データ × 東京 × 8ジャンル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833"/>
                          </a:solidFill>
                          <a:latin typeface="Meiryo"/>
                        </a:rPr>
                        <a:t>EDA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833"/>
                          </a:solidFill>
                          <a:latin typeface="Meiryo"/>
                        </a:rPr>
                        <a:t>商業集積が飲食店数を決める要因と判明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833"/>
                          </a:solidFill>
                          <a:latin typeface="Meiryo"/>
                        </a:rPr>
                        <a:t>手法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833"/>
                          </a:solidFill>
                          <a:latin typeface="Meiryo"/>
                        </a:rPr>
                        <a:t>LightGBM による市場ギャップ予測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833"/>
                          </a:solidFill>
                          <a:latin typeface="Meiryo"/>
                        </a:rPr>
                        <a:t>性能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833"/>
                          </a:solidFill>
                          <a:latin typeface="Meiryo"/>
                        </a:rPr>
                        <a:t>5-Fold CV RMSE=5.0店（東京エリア、層化分割、Optunaチューニング済み）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833"/>
                          </a:solidFill>
                          <a:latin typeface="Meiryo"/>
                        </a:rPr>
                        <a:t>活用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833"/>
                          </a:solidFill>
                          <a:latin typeface="Meiryo"/>
                        </a:rPr>
                        <a:t>東京都内の出店候補・ジャンル戦略をデータで裏付け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833"/>
                          </a:solidFill>
                          <a:latin typeface="Meiryo"/>
                        </a:rPr>
                        <a:t>開発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833"/>
                          </a:solidFill>
                          <a:latin typeface="Meiryo"/>
                        </a:rPr>
                        <a:t>AIと人間の判断力の掛け算で実現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749039" y="5806440"/>
            <a:ext cx="47548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2D5BE3"/>
                </a:solidFill>
                <a:latin typeface="Meiryo"/>
              </a:rPr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